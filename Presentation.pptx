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Rubik" pitchFamily="34" charset="0"/>
      <p:regular r:id="rId17"/>
      <p:bold r:id="rId18"/>
    </p:embeddedFont>
    <p:embeddedFont>
      <p:font typeface="JetBrains Mono" panose="02000009000000000000" pitchFamily="49"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Shikhar Aasal, and my project is SMS spam detection using NLP classification. In short, it reads the text of a message and decides whether it is spam or genuine, and on our test set it was right 96.86% of the time without wrongly flagging a single genuine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SMS is still how banks and delivery companies reach us, which is exactly why scammers use it. Americans lost 470 million dollars to text scams last year, and in India complaints to TRAI more than doubled in two years. Regulators can block known senders, but they cannot read the message itself. That gap is what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definition is simple: given only the text of a message, decide spam or ham. I set five measurable objectives, from data preparation to a deployed app, and an explicit target of 95% accuracy and 95% spam precision, well above the 86.6% you would get by calling everything ham.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public SMS Spam Collection. Only about one in seven messages is spam, so the classes are imbalanced, which means accuracy alone can mislead us. Spam is also noticeably longer and uses reward words. I held back 20% of the data, stratified, as a test set that the model never sees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literature I considered three designs. Keyword rules are simple but cannot learn and are easy to evade. Deep learning is the most accurate, but it is heavy and hard to explain. TF-IDF with a classical classifier is the sweet spot: about 97% accuracy, a model under 400 KB, and every decision can be explained word by word. Within this design I compared two classifiers.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I load and clean the data, split it, and convert each message into TF-IDF word weights, which reward words that are characteristic of a message and down-weight words that appear everywhere. Both classifiers are trained on exactly the same features, so the comparison is fair. The screenshot is the actual training code from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1,115 held-out messages, Naive Bayes reached 96.86% accuracy and Logistic Regression 96.77%. The most important number is the zero: neither model flagged a single genuine message as spam. All the errors are spam that slipped through. Naive Bayes caught one more spam message, so it was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margin on one split was just one message, I re-ran both models with 5-fold cross-validation. Naive Bayes again wins on accuracy, precision, recall and F1. The chart shows the trade-off behind the threshold: lowering it from 0.5 to 0.3 catches noticeably more spam at the cost of only two false alarms, which is why the app lets the user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selected model is deployed as a Streamlit web app. You paste a message and it shows the spam probability, highlights which words pushed the decision, and lets you move the threshold. Here a classic prize scam scores 97.4%, driven by words like claim, award and urgent. One honest limitation: a modern parcel-delivery scam scores only 37%, because the dataset is from before such scams were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filter met its accuracy and precision targets, held up under cross-validation, and is deployed as an explainable app. Recall is the part to improve, and the clear next step is retraining on recent, local scam messages, including Hinglish, plus richer features.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28000" y="0"/>
            <a:ext cx="4064000" cy="6858000"/>
          </a:xfrm>
          <a:prstGeom prst="rect">
            <a:avLst/>
          </a:prstGeom>
          <a:solidFill>
            <a:srgbClr val="F4F1EA"/>
          </a:solidFill>
          <a:ln/>
        </p:spPr>
      </p:sp>
      <p:pic>
        <p:nvPicPr>
          <p:cNvPr id="3" name="Image 0" descr="Chandigarh University logo">    </p:cNvPr>
          <p:cNvPicPr>
            <a:picLocks noChangeAspect="1"/>
          </p:cNvPicPr>
          <p:nvPr/>
        </p:nvPicPr>
        <p:blipFill>
          <a:blip r:embed="rId1"/>
          <a:srcRect l="0" r="0" t="-111" b="-111"/>
          <a:stretch/>
        </p:blipFill>
        <p:spPr>
          <a:xfrm>
            <a:off x="8572500" y="1069975"/>
            <a:ext cx="3175000" cy="1035050"/>
          </a:xfrm>
          <a:prstGeom prst="rect">
            <a:avLst/>
          </a:prstGeom>
        </p:spPr>
      </p:pic>
      <p:sp>
        <p:nvSpPr>
          <p:cNvPr id="4" name="Text 1"/>
          <p:cNvSpPr/>
          <p:nvPr/>
        </p:nvSpPr>
        <p:spPr>
          <a:xfrm>
            <a:off x="812800" y="812800"/>
            <a:ext cx="680212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AI APPLICATIONS · PROJECT PRESENTATION</a:t>
            </a:r>
            <a:endParaRPr lang="en-US" sz="1400" dirty="0"/>
          </a:p>
        </p:txBody>
      </p:sp>
      <p:sp>
        <p:nvSpPr>
          <p:cNvPr id="5" name="Text 2"/>
          <p:cNvSpPr/>
          <p:nvPr>
            <p:ph type="title"/>
          </p:nvPr>
        </p:nvSpPr>
        <p:spPr>
          <a:xfrm>
            <a:off x="812800" y="1264890"/>
            <a:ext cx="6802120" cy="226556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1EA"/>
                </a:solidFill>
                <a:latin typeface="Rubik" pitchFamily="34" charset="0"/>
                <a:ea typeface="Rubik" pitchFamily="34" charset="-122"/>
                <a:cs typeface="Rubik" pitchFamily="34" charset="-120"/>
              </a:rPr>
              <a:t>SMS Spam Detection Using NLP Classification</a:t>
            </a:r>
            <a:endParaRPr lang="en-US" sz="5600" dirty="0"/>
          </a:p>
        </p:txBody>
      </p:sp>
      <p:sp>
        <p:nvSpPr>
          <p:cNvPr id="6" name="Text 3"/>
          <p:cNvSpPr/>
          <p:nvPr/>
        </p:nvSpPr>
        <p:spPr>
          <a:xfrm>
            <a:off x="812800" y="3708251"/>
            <a:ext cx="680212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3"/>
                </a:solidFill>
                <a:latin typeface="IBM Plex Sans" pitchFamily="34" charset="0"/>
                <a:ea typeface="IBM Plex Sans" pitchFamily="34" charset="-122"/>
                <a:cs typeface="IBM Plex Sans" pitchFamily="34" charset="-120"/>
              </a:rPr>
              <a:t>Separating unwanted messages from genuine texts with TF-IDF and machine learning</a:t>
            </a:r>
            <a:endParaRPr lang="en-US" sz="1800" dirty="0"/>
          </a:p>
        </p:txBody>
      </p:sp>
      <p:sp>
        <p:nvSpPr>
          <p:cNvPr id="7" name="Text 4"/>
          <p:cNvSpPr/>
          <p:nvPr/>
        </p:nvSpPr>
        <p:spPr>
          <a:xfrm>
            <a:off x="812800" y="5161359"/>
            <a:ext cx="267322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FB0C8"/>
                </a:solidFill>
                <a:latin typeface="IBM Plex Sans" pitchFamily="34" charset="0"/>
                <a:ea typeface="IBM Plex Sans" pitchFamily="34" charset="-122"/>
                <a:cs typeface="IBM Plex Sans" pitchFamily="34" charset="-120"/>
              </a:rPr>
              <a:t>PRESENTED BY</a:t>
            </a:r>
            <a:endParaRPr lang="en-US" sz="1200" dirty="0"/>
          </a:p>
        </p:txBody>
      </p:sp>
      <p:sp>
        <p:nvSpPr>
          <p:cNvPr id="8" name="Text 5"/>
          <p:cNvSpPr/>
          <p:nvPr/>
        </p:nvSpPr>
        <p:spPr>
          <a:xfrm>
            <a:off x="812800" y="5425480"/>
            <a:ext cx="267322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IBM Plex Sans" pitchFamily="34" charset="0"/>
                <a:ea typeface="IBM Plex Sans" pitchFamily="34" charset="-122"/>
                <a:cs typeface="IBM Plex Sans" pitchFamily="34" charset="-120"/>
              </a:rPr>
              <a:t>Shikhar Aasal</a:t>
            </a:r>
            <a:endParaRPr lang="en-US" sz="1800" dirty="0"/>
          </a:p>
        </p:txBody>
      </p:sp>
      <p:sp>
        <p:nvSpPr>
          <p:cNvPr id="9" name="Text 6"/>
          <p:cNvSpPr/>
          <p:nvPr/>
        </p:nvSpPr>
        <p:spPr>
          <a:xfrm>
            <a:off x="812800" y="5796310"/>
            <a:ext cx="300176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UID 26BDA70036 · BDS-111 (A)</a:t>
            </a:r>
            <a:endParaRPr lang="en-US" sz="1400" dirty="0"/>
          </a:p>
        </p:txBody>
      </p:sp>
      <p:sp>
        <p:nvSpPr>
          <p:cNvPr id="10" name="Text 7"/>
          <p:cNvSpPr/>
          <p:nvPr/>
        </p:nvSpPr>
        <p:spPr>
          <a:xfrm>
            <a:off x="3814564" y="5161359"/>
            <a:ext cx="259392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FB0C8"/>
                </a:solidFill>
                <a:latin typeface="IBM Plex Sans" pitchFamily="34" charset="0"/>
                <a:ea typeface="IBM Plex Sans" pitchFamily="34" charset="-122"/>
                <a:cs typeface="IBM Plex Sans" pitchFamily="34" charset="-120"/>
              </a:rPr>
              <a:t>SUPERVISOR</a:t>
            </a:r>
            <a:endParaRPr lang="en-US" sz="1200" dirty="0"/>
          </a:p>
        </p:txBody>
      </p:sp>
      <p:sp>
        <p:nvSpPr>
          <p:cNvPr id="11" name="Text 8"/>
          <p:cNvSpPr/>
          <p:nvPr/>
        </p:nvSpPr>
        <p:spPr>
          <a:xfrm>
            <a:off x="3814564" y="5425480"/>
            <a:ext cx="259392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1EA"/>
                </a:solidFill>
                <a:latin typeface="IBM Plex Sans" pitchFamily="34" charset="0"/>
                <a:ea typeface="IBM Plex Sans" pitchFamily="34" charset="-122"/>
                <a:cs typeface="IBM Plex Sans" pitchFamily="34" charset="-120"/>
              </a:rPr>
              <a:t>Neeru Goel</a:t>
            </a:r>
            <a:endParaRPr lang="en-US" sz="1800" dirty="0"/>
          </a:p>
        </p:txBody>
      </p:sp>
      <p:sp>
        <p:nvSpPr>
          <p:cNvPr id="12" name="Text 9"/>
          <p:cNvSpPr/>
          <p:nvPr/>
        </p:nvSpPr>
        <p:spPr>
          <a:xfrm>
            <a:off x="3814564" y="5796310"/>
            <a:ext cx="30220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B.E. (Hons.) CSE – Data Science</a:t>
            </a:r>
            <a:endParaRPr lang="en-US" sz="1400" dirty="0"/>
          </a:p>
        </p:txBody>
      </p:sp>
      <p:sp>
        <p:nvSpPr>
          <p:cNvPr id="13" name="Shape 10"/>
          <p:cNvSpPr/>
          <p:nvPr/>
        </p:nvSpPr>
        <p:spPr>
          <a:xfrm>
            <a:off x="8537575" y="2797175"/>
            <a:ext cx="3244850" cy="1172170"/>
          </a:xfrm>
          <a:prstGeom prst="roundRect">
            <a:avLst>
              <a:gd name="adj" fmla="val 8397"/>
            </a:avLst>
          </a:prstGeom>
          <a:solidFill>
            <a:srgbClr val="FFFFFF"/>
          </a:solidFill>
          <a:ln w="6350">
            <a:solidFill>
              <a:srgbClr val="E2DCCF"/>
            </a:solidFill>
            <a:prstDash val="solid"/>
          </a:ln>
        </p:spPr>
      </p:sp>
      <p:sp>
        <p:nvSpPr>
          <p:cNvPr id="14" name="Text 11"/>
          <p:cNvSpPr/>
          <p:nvPr/>
        </p:nvSpPr>
        <p:spPr>
          <a:xfrm>
            <a:off x="8743950" y="3003550"/>
            <a:ext cx="29170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Rubik" pitchFamily="34" charset="0"/>
                <a:ea typeface="Rubik" pitchFamily="34" charset="-122"/>
                <a:cs typeface="Rubik" pitchFamily="34" charset="-120"/>
              </a:rPr>
              <a:t>96.86%</a:t>
            </a:r>
            <a:endParaRPr lang="en-US" sz="3600" dirty="0"/>
          </a:p>
        </p:txBody>
      </p:sp>
      <p:sp>
        <p:nvSpPr>
          <p:cNvPr id="15" name="Text 12"/>
          <p:cNvSpPr/>
          <p:nvPr/>
        </p:nvSpPr>
        <p:spPr>
          <a:xfrm>
            <a:off x="8743950" y="3531840"/>
            <a:ext cx="291706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test accuracy · Naive Bayes</a:t>
            </a:r>
            <a:endParaRPr lang="en-US" sz="1300" dirty="0"/>
          </a:p>
        </p:txBody>
      </p:sp>
      <p:sp>
        <p:nvSpPr>
          <p:cNvPr id="16" name="Shape 13"/>
          <p:cNvSpPr/>
          <p:nvPr/>
        </p:nvSpPr>
        <p:spPr>
          <a:xfrm>
            <a:off x="8537575" y="4128095"/>
            <a:ext cx="3244850" cy="1172170"/>
          </a:xfrm>
          <a:prstGeom prst="roundRect">
            <a:avLst>
              <a:gd name="adj" fmla="val 8397"/>
            </a:avLst>
          </a:prstGeom>
          <a:solidFill>
            <a:srgbClr val="FFFFFF"/>
          </a:solidFill>
          <a:ln w="6350">
            <a:solidFill>
              <a:srgbClr val="E2DCCF"/>
            </a:solidFill>
            <a:prstDash val="solid"/>
          </a:ln>
        </p:spPr>
      </p:sp>
      <p:sp>
        <p:nvSpPr>
          <p:cNvPr id="17" name="Text 14"/>
          <p:cNvSpPr/>
          <p:nvPr/>
        </p:nvSpPr>
        <p:spPr>
          <a:xfrm>
            <a:off x="8743950" y="4334470"/>
            <a:ext cx="29170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2412D"/>
                </a:solidFill>
                <a:latin typeface="Rubik" pitchFamily="34" charset="0"/>
                <a:ea typeface="Rubik" pitchFamily="34" charset="-122"/>
                <a:cs typeface="Rubik" pitchFamily="34" charset="-120"/>
              </a:rPr>
              <a:t>0</a:t>
            </a:r>
            <a:endParaRPr lang="en-US" sz="3600" dirty="0"/>
          </a:p>
        </p:txBody>
      </p:sp>
      <p:sp>
        <p:nvSpPr>
          <p:cNvPr id="18" name="Text 15"/>
          <p:cNvSpPr/>
          <p:nvPr/>
        </p:nvSpPr>
        <p:spPr>
          <a:xfrm>
            <a:off x="8743950" y="4862761"/>
            <a:ext cx="291706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genuine messages flagged as spam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01 · THE PROBLEM</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Text-message fraud is growing fast</a:t>
            </a:r>
            <a:endParaRPr lang="en-US" sz="3200" dirty="0"/>
          </a:p>
        </p:txBody>
      </p:sp>
      <p:sp>
        <p:nvSpPr>
          <p:cNvPr id="4" name="Shape 2"/>
          <p:cNvSpPr/>
          <p:nvPr/>
        </p:nvSpPr>
        <p:spPr>
          <a:xfrm>
            <a:off x="815975" y="1933525"/>
            <a:ext cx="3380284" cy="1951881"/>
          </a:xfrm>
          <a:prstGeom prst="roundRect">
            <a:avLst>
              <a:gd name="adj" fmla="val 5043"/>
            </a:avLst>
          </a:prstGeom>
          <a:solidFill>
            <a:srgbClr val="FFFFFF"/>
          </a:solidFill>
          <a:ln w="6350">
            <a:solidFill>
              <a:srgbClr val="E2DCCF"/>
            </a:solidFill>
            <a:prstDash val="solid"/>
          </a:ln>
        </p:spPr>
      </p:sp>
      <p:sp>
        <p:nvSpPr>
          <p:cNvPr id="5" name="Text 3"/>
          <p:cNvSpPr/>
          <p:nvPr/>
        </p:nvSpPr>
        <p:spPr>
          <a:xfrm>
            <a:off x="1073150" y="2190700"/>
            <a:ext cx="2951912"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C2412D"/>
                </a:solidFill>
                <a:latin typeface="Rubik" pitchFamily="34" charset="0"/>
                <a:ea typeface="Rubik" pitchFamily="34" charset="-122"/>
                <a:cs typeface="Rubik" pitchFamily="34" charset="-120"/>
              </a:rPr>
              <a:t>$470M</a:t>
            </a:r>
            <a:endParaRPr lang="en-US" sz="4400" dirty="0"/>
          </a:p>
        </p:txBody>
      </p:sp>
      <p:sp>
        <p:nvSpPr>
          <p:cNvPr id="6" name="Text 4"/>
          <p:cNvSpPr/>
          <p:nvPr/>
        </p:nvSpPr>
        <p:spPr>
          <a:xfrm>
            <a:off x="1073150" y="2881561"/>
            <a:ext cx="295191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lost by US consumers to text scams in 2024, about 5× the 2020 figure (FTC)</a:t>
            </a:r>
            <a:endParaRPr lang="en-US" sz="1400" dirty="0"/>
          </a:p>
        </p:txBody>
      </p:sp>
      <p:sp>
        <p:nvSpPr>
          <p:cNvPr id="7" name="Shape 5"/>
          <p:cNvSpPr/>
          <p:nvPr/>
        </p:nvSpPr>
        <p:spPr>
          <a:xfrm>
            <a:off x="4405809" y="1933525"/>
            <a:ext cx="3380333" cy="1951881"/>
          </a:xfrm>
          <a:prstGeom prst="roundRect">
            <a:avLst>
              <a:gd name="adj" fmla="val 5043"/>
            </a:avLst>
          </a:prstGeom>
          <a:solidFill>
            <a:srgbClr val="FFFFFF"/>
          </a:solidFill>
          <a:ln w="6350">
            <a:solidFill>
              <a:srgbClr val="E2DCCF"/>
            </a:solidFill>
            <a:prstDash val="solid"/>
          </a:ln>
        </p:spPr>
      </p:sp>
      <p:sp>
        <p:nvSpPr>
          <p:cNvPr id="8" name="Text 6"/>
          <p:cNvSpPr/>
          <p:nvPr/>
        </p:nvSpPr>
        <p:spPr>
          <a:xfrm>
            <a:off x="4662984" y="2190700"/>
            <a:ext cx="295196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C2412D"/>
                </a:solidFill>
                <a:latin typeface="Rubik" pitchFamily="34" charset="0"/>
                <a:ea typeface="Rubik" pitchFamily="34" charset="-122"/>
                <a:cs typeface="Rubik" pitchFamily="34" charset="-120"/>
              </a:rPr>
              <a:t>31 lakh</a:t>
            </a:r>
            <a:endParaRPr lang="en-US" sz="4400" dirty="0"/>
          </a:p>
        </p:txBody>
      </p:sp>
      <p:sp>
        <p:nvSpPr>
          <p:cNvPr id="9" name="Text 7"/>
          <p:cNvSpPr/>
          <p:nvPr/>
        </p:nvSpPr>
        <p:spPr>
          <a:xfrm>
            <a:off x="4662984" y="288156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spam and fraud complaints to TRAI in 2025, up from 13.6 lakh in 2023</a:t>
            </a:r>
            <a:endParaRPr lang="en-US" sz="1400" dirty="0"/>
          </a:p>
        </p:txBody>
      </p:sp>
      <p:sp>
        <p:nvSpPr>
          <p:cNvPr id="10" name="Shape 8"/>
          <p:cNvSpPr/>
          <p:nvPr/>
        </p:nvSpPr>
        <p:spPr>
          <a:xfrm>
            <a:off x="7995692" y="1933525"/>
            <a:ext cx="3380333" cy="1951881"/>
          </a:xfrm>
          <a:prstGeom prst="roundRect">
            <a:avLst>
              <a:gd name="adj" fmla="val 5043"/>
            </a:avLst>
          </a:prstGeom>
          <a:solidFill>
            <a:srgbClr val="FFFFFF"/>
          </a:solidFill>
          <a:ln w="6350">
            <a:solidFill>
              <a:srgbClr val="E2DCCF"/>
            </a:solidFill>
            <a:prstDash val="solid"/>
          </a:ln>
        </p:spPr>
      </p:sp>
      <p:sp>
        <p:nvSpPr>
          <p:cNvPr id="11" name="Text 9"/>
          <p:cNvSpPr/>
          <p:nvPr/>
        </p:nvSpPr>
        <p:spPr>
          <a:xfrm>
            <a:off x="8252867" y="2190700"/>
            <a:ext cx="295196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C2412D"/>
                </a:solidFill>
                <a:latin typeface="Rubik" pitchFamily="34" charset="0"/>
                <a:ea typeface="Rubik" pitchFamily="34" charset="-122"/>
                <a:cs typeface="Rubik" pitchFamily="34" charset="-120"/>
              </a:rPr>
              <a:t>21 lakh</a:t>
            </a:r>
            <a:endParaRPr lang="en-US" sz="4400" dirty="0"/>
          </a:p>
        </p:txBody>
      </p:sp>
      <p:sp>
        <p:nvSpPr>
          <p:cNvPr id="12" name="Text 10"/>
          <p:cNvSpPr/>
          <p:nvPr/>
        </p:nvSpPr>
        <p:spPr>
          <a:xfrm>
            <a:off x="8252867" y="2881561"/>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mobile numbers disconnected in India in one year for spam and fraud</a:t>
            </a:r>
            <a:endParaRPr lang="en-US" sz="1400" dirty="0"/>
          </a:p>
        </p:txBody>
      </p:sp>
      <p:sp>
        <p:nvSpPr>
          <p:cNvPr id="13" name="Shape 11"/>
          <p:cNvSpPr/>
          <p:nvPr/>
        </p:nvSpPr>
        <p:spPr>
          <a:xfrm>
            <a:off x="812800" y="4244181"/>
            <a:ext cx="10566400" cy="1112441"/>
          </a:xfrm>
          <a:prstGeom prst="roundRect">
            <a:avLst>
              <a:gd name="adj" fmla="val 9133"/>
            </a:avLst>
          </a:prstGeom>
          <a:solidFill>
            <a:srgbClr val="14213D"/>
          </a:solidFill>
          <a:ln/>
        </p:spPr>
      </p:sp>
      <p:pic>
        <p:nvPicPr>
          <p:cNvPr id="14" name="Image 0" descr="Warning">    </p:cNvPr>
          <p:cNvPicPr>
            <a:picLocks noChangeAspect="1"/>
          </p:cNvPicPr>
          <p:nvPr/>
        </p:nvPicPr>
        <p:blipFill>
          <a:blip r:embed="rId1"/>
          <a:srcRect l="0" r="0" t="-456" b="-456"/>
          <a:stretch/>
        </p:blipFill>
        <p:spPr>
          <a:xfrm>
            <a:off x="1117600" y="4597202"/>
            <a:ext cx="239117" cy="406400"/>
          </a:xfrm>
          <a:prstGeom prst="rect">
            <a:avLst/>
          </a:prstGeom>
        </p:spPr>
      </p:pic>
      <p:sp>
        <p:nvSpPr>
          <p:cNvPr id="15" name="Text 12"/>
          <p:cNvSpPr/>
          <p:nvPr/>
        </p:nvSpPr>
        <p:spPr>
          <a:xfrm>
            <a:off x="1559917" y="4498181"/>
            <a:ext cx="9799917"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1EA"/>
                </a:solidFill>
                <a:latin typeface="IBM Plex Sans" pitchFamily="34" charset="0"/>
                <a:ea typeface="IBM Plex Sans" pitchFamily="34" charset="-122"/>
                <a:cs typeface="IBM Plex Sans" pitchFamily="34" charset="-120"/>
              </a:rPr>
              <a:t>Sender blacklists and DLT registration cannot read what a message </a:t>
            </a:r>
            <a:r>
              <a:rPr lang="en-US" sz="1700" i="1" dirty="0">
                <a:solidFill>
                  <a:srgbClr val="F4F1EA"/>
                </a:solidFill>
                <a:latin typeface="IBM Plex Sans" pitchFamily="34" charset="0"/>
                <a:ea typeface="IBM Plex Sans" pitchFamily="34" charset="-122"/>
                <a:cs typeface="IBM Plex Sans" pitchFamily="34" charset="-120"/>
              </a:rPr>
              <a:t>says</a:t>
            </a:r>
            <a:r>
              <a:rPr lang="en-US" sz="1700" dirty="0">
                <a:solidFill>
                  <a:srgbClr val="F4F1EA"/>
                </a:solidFill>
                <a:latin typeface="IBM Plex Sans" pitchFamily="34" charset="0"/>
                <a:ea typeface="IBM Plex Sans" pitchFamily="34" charset="-122"/>
                <a:cs typeface="IBM Plex Sans" pitchFamily="34" charset="-120"/>
              </a:rPr>
              <a:t>. Users need a </a:t>
            </a:r>
            <a:r>
              <a:rPr lang="en-US" sz="1700" b="1" dirty="0">
                <a:solidFill>
                  <a:srgbClr val="F4F1EA"/>
                </a:solidFill>
                <a:latin typeface="IBM Plex Sans" pitchFamily="34" charset="0"/>
                <a:ea typeface="IBM Plex Sans" pitchFamily="34" charset="-122"/>
                <a:cs typeface="IBM Plex Sans" pitchFamily="34" charset="-120"/>
              </a:rPr>
              <a:t>content-based filter</a:t>
            </a:r>
            <a:r>
              <a:rPr lang="en-US" sz="1700" dirty="0">
                <a:solidFill>
                  <a:srgbClr val="F4F1EA"/>
                </a:solidFill>
                <a:latin typeface="IBM Plex Sans" pitchFamily="34" charset="0"/>
                <a:ea typeface="IBM Plex Sans" pitchFamily="34" charset="-122"/>
                <a:cs typeface="IBM Plex Sans" pitchFamily="34" charset="-120"/>
              </a:rPr>
              <a:t> that warns them without hiding genuine texts such as OTPs.</a:t>
            </a:r>
            <a:endParaRPr lang="en-US" sz="17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FTC press release, Apr 2025 · TRAI data via Kerala Kaumudi, Apr 2026 · Ministry of Communications via IANS, Nov 2025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02 · GOAL AND OBJECTIVES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Classify an SMS as spam or ham from its text alone</a:t>
            </a:r>
            <a:endParaRPr lang="en-US" sz="3200" dirty="0"/>
          </a:p>
        </p:txBody>
      </p:sp>
      <p:sp>
        <p:nvSpPr>
          <p:cNvPr id="4" name="Text 2"/>
          <p:cNvSpPr/>
          <p:nvPr/>
        </p:nvSpPr>
        <p:spPr>
          <a:xfrm>
            <a:off x="812800" y="1930350"/>
            <a:ext cx="152251"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A78D6"/>
                </a:solidFill>
                <a:latin typeface="Rubik" pitchFamily="34" charset="0"/>
                <a:ea typeface="Rubik" pitchFamily="34" charset="-122"/>
                <a:cs typeface="Rubik" pitchFamily="34" charset="-120"/>
              </a:rPr>
              <a:t>1</a:t>
            </a:r>
            <a:endParaRPr lang="en-US" sz="2200" dirty="0"/>
          </a:p>
        </p:txBody>
      </p:sp>
      <p:sp>
        <p:nvSpPr>
          <p:cNvPr id="5" name="Text 3"/>
          <p:cNvSpPr/>
          <p:nvPr/>
        </p:nvSpPr>
        <p:spPr>
          <a:xfrm>
            <a:off x="1066651" y="1930350"/>
            <a:ext cx="5023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Clean 5,572 labelled messages and make a reproducible, stratified 80/20 split</a:t>
            </a:r>
            <a:endParaRPr lang="en-US" sz="1500" dirty="0"/>
          </a:p>
        </p:txBody>
      </p:sp>
      <p:sp>
        <p:nvSpPr>
          <p:cNvPr id="6" name="Text 4"/>
          <p:cNvSpPr/>
          <p:nvPr/>
        </p:nvSpPr>
        <p:spPr>
          <a:xfrm>
            <a:off x="6248400" y="1930350"/>
            <a:ext cx="19734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A78D6"/>
                </a:solidFill>
                <a:latin typeface="Rubik" pitchFamily="34" charset="0"/>
                <a:ea typeface="Rubik" pitchFamily="34" charset="-122"/>
                <a:cs typeface="Rubik" pitchFamily="34" charset="-120"/>
              </a:rPr>
              <a:t>2</a:t>
            </a:r>
            <a:endParaRPr lang="en-US" sz="2200" dirty="0"/>
          </a:p>
        </p:txBody>
      </p:sp>
      <p:sp>
        <p:nvSpPr>
          <p:cNvPr id="7" name="Text 5"/>
          <p:cNvSpPr/>
          <p:nvPr/>
        </p:nvSpPr>
        <p:spPr>
          <a:xfrm>
            <a:off x="6547346" y="1930350"/>
            <a:ext cx="497681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Train TF-IDF + Naive Bayes and TF-IDF + Logistic Regression pipelines</a:t>
            </a:r>
            <a:endParaRPr lang="en-US" sz="1500" dirty="0"/>
          </a:p>
        </p:txBody>
      </p:sp>
      <p:sp>
        <p:nvSpPr>
          <p:cNvPr id="8" name="Text 6"/>
          <p:cNvSpPr/>
          <p:nvPr/>
        </p:nvSpPr>
        <p:spPr>
          <a:xfrm>
            <a:off x="812800" y="2641550"/>
            <a:ext cx="19466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A78D6"/>
                </a:solidFill>
                <a:latin typeface="Rubik" pitchFamily="34" charset="0"/>
                <a:ea typeface="Rubik" pitchFamily="34" charset="-122"/>
                <a:cs typeface="Rubik" pitchFamily="34" charset="-120"/>
              </a:rPr>
              <a:t>3</a:t>
            </a:r>
            <a:endParaRPr lang="en-US" sz="2200" dirty="0"/>
          </a:p>
        </p:txBody>
      </p:sp>
      <p:sp>
        <p:nvSpPr>
          <p:cNvPr id="9" name="Text 7"/>
          <p:cNvSpPr/>
          <p:nvPr/>
        </p:nvSpPr>
        <p:spPr>
          <a:xfrm>
            <a:off x="1109067" y="2641550"/>
            <a:ext cx="497956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Reach at least 95% accuracy and 95% spam precision (baseline: 86.6%)</a:t>
            </a:r>
            <a:endParaRPr lang="en-US" sz="1500" dirty="0"/>
          </a:p>
        </p:txBody>
      </p:sp>
      <p:sp>
        <p:nvSpPr>
          <p:cNvPr id="10" name="Text 8"/>
          <p:cNvSpPr/>
          <p:nvPr/>
        </p:nvSpPr>
        <p:spPr>
          <a:xfrm>
            <a:off x="6248400" y="2641550"/>
            <a:ext cx="19174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A78D6"/>
                </a:solidFill>
                <a:latin typeface="Rubik" pitchFamily="34" charset="0"/>
                <a:ea typeface="Rubik" pitchFamily="34" charset="-122"/>
                <a:cs typeface="Rubik" pitchFamily="34" charset="-120"/>
              </a:rPr>
              <a:t>4</a:t>
            </a:r>
            <a:endParaRPr lang="en-US" sz="2200" dirty="0"/>
          </a:p>
        </p:txBody>
      </p:sp>
      <p:sp>
        <p:nvSpPr>
          <p:cNvPr id="11" name="Text 9"/>
          <p:cNvSpPr/>
          <p:nvPr/>
        </p:nvSpPr>
        <p:spPr>
          <a:xfrm>
            <a:off x="6541740" y="2641550"/>
            <a:ext cx="49825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Validate with confusion matrices, precision/recall and 5-fold cross-validation</a:t>
            </a:r>
            <a:endParaRPr lang="en-US" sz="1500" dirty="0"/>
          </a:p>
        </p:txBody>
      </p:sp>
      <p:sp>
        <p:nvSpPr>
          <p:cNvPr id="12" name="Text 10"/>
          <p:cNvSpPr/>
          <p:nvPr/>
        </p:nvSpPr>
        <p:spPr>
          <a:xfrm>
            <a:off x="812800" y="3352750"/>
            <a:ext cx="20508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2A78D6"/>
                </a:solidFill>
                <a:latin typeface="Rubik" pitchFamily="34" charset="0"/>
                <a:ea typeface="Rubik" pitchFamily="34" charset="-122"/>
                <a:cs typeface="Rubik" pitchFamily="34" charset="-120"/>
              </a:rPr>
              <a:t>5</a:t>
            </a:r>
            <a:endParaRPr lang="en-US" sz="2200" dirty="0"/>
          </a:p>
        </p:txBody>
      </p:sp>
      <p:sp>
        <p:nvSpPr>
          <p:cNvPr id="13" name="Text 11"/>
          <p:cNvSpPr/>
          <p:nvPr/>
        </p:nvSpPr>
        <p:spPr>
          <a:xfrm>
            <a:off x="1119485" y="3352750"/>
            <a:ext cx="49688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Deploy an explainable web app with an adjustable spam threshold</a:t>
            </a:r>
            <a:endParaRPr lang="en-US" sz="1500" dirty="0"/>
          </a:p>
        </p:txBody>
      </p:sp>
      <p:sp>
        <p:nvSpPr>
          <p:cNvPr id="14" name="Text 12"/>
          <p:cNvSpPr/>
          <p:nvPr/>
        </p:nvSpPr>
        <p:spPr>
          <a:xfrm>
            <a:off x="812800" y="4292550"/>
            <a:ext cx="11086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Out of scope:</a:t>
            </a:r>
            <a:endParaRPr lang="en-US" sz="1300" dirty="0"/>
          </a:p>
        </p:txBody>
      </p:sp>
      <p:sp>
        <p:nvSpPr>
          <p:cNvPr id="15" name="Text 13"/>
          <p:cNvSpPr/>
          <p:nvPr/>
        </p:nvSpPr>
        <p:spPr>
          <a:xfrm>
            <a:off x="1921470" y="4241750"/>
            <a:ext cx="1810246" cy="332730"/>
          </a:xfrm>
          <a:prstGeom prst="roundRect">
            <a:avLst>
              <a:gd name="adj" fmla="val 45803"/>
            </a:avLst>
          </a:prstGeom>
          <a:solidFill>
            <a:srgbClr val="E8E2D4"/>
          </a:solidFill>
          <a:ln/>
        </p:spPr>
        <p:txBody>
          <a:bodyPr wrap="none" lIns="0" tIns="0" rIns="0" bIns="0" rtlCol="0" anchor="ctr">
            <a:normAutofit/>
          </a:bodyPr>
          <a:lstStyle/>
          <a:p>
            <a:pPr algn="ct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live SMS interception</a:t>
            </a:r>
            <a:endParaRPr lang="en-US" sz="1300" dirty="0"/>
          </a:p>
        </p:txBody>
      </p:sp>
      <p:sp>
        <p:nvSpPr>
          <p:cNvPr id="16" name="Text 14"/>
          <p:cNvSpPr/>
          <p:nvPr/>
        </p:nvSpPr>
        <p:spPr>
          <a:xfrm>
            <a:off x="3833316" y="4241750"/>
            <a:ext cx="1957189" cy="332730"/>
          </a:xfrm>
          <a:prstGeom prst="roundRect">
            <a:avLst>
              <a:gd name="adj" fmla="val 45803"/>
            </a:avLst>
          </a:prstGeom>
          <a:solidFill>
            <a:srgbClr val="E8E2D4"/>
          </a:solidFill>
          <a:ln/>
        </p:spPr>
        <p:txBody>
          <a:bodyPr wrap="none" lIns="0" tIns="0" rIns="0" bIns="0" rtlCol="0" anchor="ctr">
            <a:normAutofit/>
          </a:bodyPr>
          <a:lstStyle/>
          <a:p>
            <a:pPr algn="ct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sender / URL metadata</a:t>
            </a:r>
            <a:endParaRPr lang="en-US" sz="1300" dirty="0"/>
          </a:p>
        </p:txBody>
      </p:sp>
      <p:sp>
        <p:nvSpPr>
          <p:cNvPr id="17" name="Text 15"/>
          <p:cNvSpPr/>
          <p:nvPr/>
        </p:nvSpPr>
        <p:spPr>
          <a:xfrm>
            <a:off x="5892105" y="4241750"/>
            <a:ext cx="1464022" cy="332730"/>
          </a:xfrm>
          <a:prstGeom prst="roundRect">
            <a:avLst>
              <a:gd name="adj" fmla="val 45803"/>
            </a:avLst>
          </a:prstGeom>
          <a:solidFill>
            <a:srgbClr val="E8E2D4"/>
          </a:solidFill>
          <a:ln/>
        </p:spPr>
        <p:txBody>
          <a:bodyPr wrap="none" lIns="0" tIns="0" rIns="0" bIns="0" rtlCol="0" anchor="ctr">
            <a:normAutofit/>
          </a:bodyPr>
          <a:lstStyle/>
          <a:p>
            <a:pPr algn="ct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non-English text</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Shikhar Aasal · SMS Spam Detection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03 · THE DATASET</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5,572 real, labelled SMS messages</a:t>
            </a:r>
            <a:endParaRPr lang="en-US" sz="3200" dirty="0"/>
          </a:p>
        </p:txBody>
      </p:sp>
      <p:sp>
        <p:nvSpPr>
          <p:cNvPr id="4" name="Text 2"/>
          <p:cNvSpPr/>
          <p:nvPr/>
        </p:nvSpPr>
        <p:spPr>
          <a:xfrm>
            <a:off x="812800" y="1929160"/>
            <a:ext cx="287782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A78D6"/>
                </a:solidFill>
                <a:latin typeface="Rubik" pitchFamily="34" charset="0"/>
                <a:ea typeface="Rubik" pitchFamily="34" charset="-122"/>
                <a:cs typeface="Rubik" pitchFamily="34" charset="-120"/>
              </a:rPr>
              <a:t>4,825</a:t>
            </a:r>
            <a:endParaRPr lang="en-US" sz="3600" dirty="0"/>
          </a:p>
        </p:txBody>
      </p:sp>
      <p:sp>
        <p:nvSpPr>
          <p:cNvPr id="5" name="Text 3"/>
          <p:cNvSpPr/>
          <p:nvPr/>
        </p:nvSpPr>
        <p:spPr>
          <a:xfrm>
            <a:off x="812800" y="2457450"/>
            <a:ext cx="28778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ham (86.6%)</a:t>
            </a:r>
            <a:endParaRPr lang="en-US" sz="1400" dirty="0"/>
          </a:p>
        </p:txBody>
      </p:sp>
      <p:sp>
        <p:nvSpPr>
          <p:cNvPr id="6" name="Text 4"/>
          <p:cNvSpPr/>
          <p:nvPr/>
        </p:nvSpPr>
        <p:spPr>
          <a:xfrm>
            <a:off x="812800" y="2884140"/>
            <a:ext cx="287782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2412D"/>
                </a:solidFill>
                <a:latin typeface="Rubik" pitchFamily="34" charset="0"/>
                <a:ea typeface="Rubik" pitchFamily="34" charset="-122"/>
                <a:cs typeface="Rubik" pitchFamily="34" charset="-120"/>
              </a:rPr>
              <a:t>747</a:t>
            </a:r>
            <a:endParaRPr lang="en-US" sz="3600" dirty="0"/>
          </a:p>
        </p:txBody>
      </p:sp>
      <p:sp>
        <p:nvSpPr>
          <p:cNvPr id="7" name="Text 5"/>
          <p:cNvSpPr/>
          <p:nvPr/>
        </p:nvSpPr>
        <p:spPr>
          <a:xfrm>
            <a:off x="812800" y="3412430"/>
            <a:ext cx="28778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spam (13.4%): imbalanced</a:t>
            </a:r>
            <a:endParaRPr lang="en-US" sz="1400" dirty="0"/>
          </a:p>
        </p:txBody>
      </p:sp>
      <p:sp>
        <p:nvSpPr>
          <p:cNvPr id="8" name="Text 6"/>
          <p:cNvSpPr/>
          <p:nvPr/>
        </p:nvSpPr>
        <p:spPr>
          <a:xfrm>
            <a:off x="812800" y="3839121"/>
            <a:ext cx="287782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Spam is longer: median </a:t>
            </a:r>
            <a:r>
              <a:rPr lang="en-US" sz="1400" b="1" dirty="0">
                <a:solidFill>
                  <a:srgbClr val="14213D"/>
                </a:solidFill>
                <a:latin typeface="IBM Plex Sans" pitchFamily="34" charset="0"/>
                <a:ea typeface="IBM Plex Sans" pitchFamily="34" charset="-122"/>
                <a:cs typeface="IBM Plex Sans" pitchFamily="34" charset="-120"/>
              </a:rPr>
              <a:t>149</a:t>
            </a:r>
            <a:r>
              <a:rPr lang="en-US" sz="1400" dirty="0">
                <a:solidFill>
                  <a:srgbClr val="14213D"/>
                </a:solidFill>
                <a:latin typeface="IBM Plex Sans" pitchFamily="34" charset="0"/>
                <a:ea typeface="IBM Plex Sans" pitchFamily="34" charset="-122"/>
                <a:cs typeface="IBM Plex Sans" pitchFamily="34" charset="-120"/>
              </a:rPr>
              <a:t> vs </a:t>
            </a:r>
            <a:r>
              <a:rPr lang="en-US" sz="1400" b="1" dirty="0">
                <a:solidFill>
                  <a:srgbClr val="14213D"/>
                </a:solidFill>
                <a:latin typeface="IBM Plex Sans" pitchFamily="34" charset="0"/>
                <a:ea typeface="IBM Plex Sans" pitchFamily="34" charset="-122"/>
                <a:cs typeface="IBM Plex Sans" pitchFamily="34" charset="-120"/>
              </a:rPr>
              <a:t>52</a:t>
            </a:r>
            <a:r>
              <a:rPr lang="en-US" sz="1400" dirty="0">
                <a:solidFill>
                  <a:srgbClr val="14213D"/>
                </a:solidFill>
                <a:latin typeface="IBM Plex Sans" pitchFamily="34" charset="0"/>
                <a:ea typeface="IBM Plex Sans" pitchFamily="34" charset="-122"/>
                <a:cs typeface="IBM Plex Sans" pitchFamily="34" charset="-120"/>
              </a:rPr>
              <a:t> characters, and full of words like “free”, “claim” and “prize”.</a:t>
            </a:r>
            <a:endParaRPr lang="en-US" sz="1400" dirty="0"/>
          </a:p>
        </p:txBody>
      </p:sp>
      <p:sp>
        <p:nvSpPr>
          <p:cNvPr id="9" name="Shape 7"/>
          <p:cNvSpPr/>
          <p:nvPr/>
        </p:nvSpPr>
        <p:spPr>
          <a:xfrm>
            <a:off x="3914775" y="1882725"/>
            <a:ext cx="7461250" cy="2749550"/>
          </a:xfrm>
          <a:prstGeom prst="roundRect">
            <a:avLst>
              <a:gd name="adj" fmla="val 3580"/>
            </a:avLst>
          </a:prstGeom>
          <a:solidFill>
            <a:srgbClr val="FFFFFF"/>
          </a:solidFill>
          <a:ln w="6350">
            <a:solidFill>
              <a:srgbClr val="E2DCCF"/>
            </a:solidFill>
            <a:prstDash val="solid"/>
          </a:ln>
        </p:spPr>
      </p:sp>
      <p:pic>
        <p:nvPicPr>
          <p:cNvPr id="10" name="Image 0" descr="Bar chart of 4,825 ham and 747 spam messages, and histogram showing spam messages are longer">    </p:cNvPr>
          <p:cNvPicPr>
            <a:picLocks noChangeAspect="1"/>
          </p:cNvPicPr>
          <p:nvPr/>
        </p:nvPicPr>
        <p:blipFill>
          <a:blip r:embed="rId1"/>
          <a:srcRect l="0" r="0" t="-1131" b="-1131"/>
          <a:stretch/>
        </p:blipFill>
        <p:spPr>
          <a:xfrm>
            <a:off x="4070350" y="2038300"/>
            <a:ext cx="7150100" cy="2438400"/>
          </a:xfrm>
          <a:prstGeom prst="rect">
            <a:avLst/>
          </a:prstGeom>
        </p:spPr>
      </p:pic>
      <p:sp>
        <p:nvSpPr>
          <p:cNvPr id="11" name="Text 8"/>
          <p:cNvSpPr/>
          <p:nvPr/>
        </p:nvSpPr>
        <p:spPr>
          <a:xfrm>
            <a:off x="812800" y="49402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Split: </a:t>
            </a:r>
            <a:r>
              <a:rPr lang="en-US" sz="1400" b="1" dirty="0">
                <a:solidFill>
                  <a:srgbClr val="14213D"/>
                </a:solidFill>
                <a:latin typeface="IBM Plex Sans" pitchFamily="34" charset="0"/>
                <a:ea typeface="IBM Plex Sans" pitchFamily="34" charset="-122"/>
                <a:cs typeface="IBM Plex Sans" pitchFamily="34" charset="-120"/>
              </a:rPr>
              <a:t>4,457 training</a:t>
            </a:r>
            <a:r>
              <a:rPr lang="en-US" sz="1400" dirty="0">
                <a:solidFill>
                  <a:srgbClr val="4A5568"/>
                </a:solidFill>
                <a:latin typeface="IBM Plex Sans" pitchFamily="34" charset="0"/>
                <a:ea typeface="IBM Plex Sans" pitchFamily="34" charset="-122"/>
                <a:cs typeface="IBM Plex Sans" pitchFamily="34" charset="-120"/>
              </a:rPr>
              <a:t> and </a:t>
            </a:r>
            <a:r>
              <a:rPr lang="en-US" sz="1400" b="1" dirty="0">
                <a:solidFill>
                  <a:srgbClr val="14213D"/>
                </a:solidFill>
                <a:latin typeface="IBM Plex Sans" pitchFamily="34" charset="0"/>
                <a:ea typeface="IBM Plex Sans" pitchFamily="34" charset="-122"/>
                <a:cs typeface="IBM Plex Sans" pitchFamily="34" charset="-120"/>
              </a:rPr>
              <a:t>1,115 test</a:t>
            </a:r>
            <a:r>
              <a:rPr lang="en-US" sz="1400" dirty="0">
                <a:solidFill>
                  <a:srgbClr val="4A5568"/>
                </a:solidFill>
                <a:latin typeface="IBM Plex Sans" pitchFamily="34" charset="0"/>
                <a:ea typeface="IBM Plex Sans" pitchFamily="34" charset="-122"/>
                <a:cs typeface="IBM Plex Sans" pitchFamily="34" charset="-120"/>
              </a:rPr>
              <a:t> messages, stratified so both keep 13.4% spam (random_state = 42).</a:t>
            </a:r>
            <a:endParaRPr lang="en-US" sz="14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 Almeida et al., UCI SMS Spam Collection (Kaggle copy)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04 · LITERATURE AND DESIGN SELECTION</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Three designs; classical ML fits best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564954"/>
        </p:xfrm>
        <a:graphic>
          <a:graphicData uri="http://schemas.openxmlformats.org/drawingml/2006/table">
            <a:tbl>
              <a:tblPr/>
              <a:tblGrid>
                <a:gridCol w="2955036"/>
                <a:gridCol w="2321814"/>
                <a:gridCol w="2743962"/>
                <a:gridCol w="2532888"/>
              </a:tblGrid>
              <a:tr h="634901">
                <a:tc>
                  <a:txBody>
                    <a:bodyPr/>
                    <a:lstStyle/>
                    <a:p>
                      <a:pP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Criterion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A · Rule-based keywords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B · TF-IDF + classical ML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C · Deep learning (LSTM / BERT)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Learns from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Accuracy on benchmark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Low–medium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High (≈97%)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Very high (≈99%)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Training cost / model size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None / tiny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Seconds on CPU / ~380 KB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Hours on GPU / 10–400 MB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Explains its decisions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word by word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Hardly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Meets all constraints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but easily evaded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EC8"/>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selected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EC8"/>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EC8"/>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r>
            </a:tbl>
          </a:graphicData>
        </a:graphic>
      </p:graphicFrame>
      <p:sp>
        <p:nvSpPr>
          <p:cNvPr id="5" name="Text 2"/>
          <p:cNvSpPr/>
          <p:nvPr/>
        </p:nvSpPr>
        <p:spPr>
          <a:xfrm>
            <a:off x="812800" y="4762004"/>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Literature basis: Bayesian filtering (Sahami 1998), SMS filtering (Gómez Hidalgo 2006; Cormack 2007), the SMS Spam Collection benchmark (Almeida 2011), deep SMS filters (Roy 2020).</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Shikhar Aasal · SMS Spam Detection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05 · METHODOLOGY</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From raw text to a deployed classifier</a:t>
            </a:r>
            <a:endParaRPr lang="en-US" sz="3200" dirty="0"/>
          </a:p>
        </p:txBody>
      </p:sp>
      <p:sp>
        <p:nvSpPr>
          <p:cNvPr id="4" name="Shape 2"/>
          <p:cNvSpPr/>
          <p:nvPr/>
        </p:nvSpPr>
        <p:spPr>
          <a:xfrm>
            <a:off x="812800" y="1854150"/>
            <a:ext cx="1401217" cy="1200051"/>
          </a:xfrm>
          <a:prstGeom prst="roundRect">
            <a:avLst>
              <a:gd name="adj" fmla="val 6350"/>
            </a:avLst>
          </a:prstGeom>
          <a:solidFill>
            <a:srgbClr val="14213D"/>
          </a:solidFill>
          <a:ln/>
        </p:spPr>
      </p:sp>
      <p:sp>
        <p:nvSpPr>
          <p:cNvPr id="5" name="Text 3"/>
          <p:cNvSpPr/>
          <p:nvPr/>
        </p:nvSpPr>
        <p:spPr>
          <a:xfrm>
            <a:off x="965200" y="2006550"/>
            <a:ext cx="1147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LOAD</a:t>
            </a:r>
            <a:endParaRPr lang="en-US" sz="1200" dirty="0"/>
          </a:p>
        </p:txBody>
      </p:sp>
      <p:sp>
        <p:nvSpPr>
          <p:cNvPr id="6" name="Text 4"/>
          <p:cNvSpPr/>
          <p:nvPr/>
        </p:nvSpPr>
        <p:spPr>
          <a:xfrm>
            <a:off x="965200" y="2257971"/>
            <a:ext cx="1147217"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F1EA"/>
                </a:solidFill>
                <a:latin typeface="IBM Plex Sans" pitchFamily="34" charset="0"/>
                <a:ea typeface="IBM Plex Sans" pitchFamily="34" charset="-122"/>
                <a:cs typeface="IBM Plex Sans" pitchFamily="34" charset="-120"/>
              </a:rPr>
              <a:t>CSV with 5,572 messages</a:t>
            </a:r>
            <a:endParaRPr lang="en-US" sz="1300" dirty="0"/>
          </a:p>
        </p:txBody>
      </p:sp>
      <p:pic>
        <p:nvPicPr>
          <p:cNvPr id="7" name="Image 0" descr="arrow-right">    </p:cNvPr>
          <p:cNvPicPr>
            <a:picLocks noChangeAspect="1"/>
          </p:cNvPicPr>
          <p:nvPr/>
        </p:nvPicPr>
        <p:blipFill>
          <a:blip r:embed="rId1"/>
          <a:srcRect l="0" r="0" t="0" b="0"/>
          <a:stretch/>
        </p:blipFill>
        <p:spPr>
          <a:xfrm>
            <a:off x="2315617" y="2390676"/>
            <a:ext cx="228600" cy="127000"/>
          </a:xfrm>
          <a:prstGeom prst="rect">
            <a:avLst/>
          </a:prstGeom>
        </p:spPr>
      </p:pic>
      <p:sp>
        <p:nvSpPr>
          <p:cNvPr id="8" name="Shape 5"/>
          <p:cNvSpPr/>
          <p:nvPr/>
        </p:nvSpPr>
        <p:spPr>
          <a:xfrm>
            <a:off x="2645817" y="1961455"/>
            <a:ext cx="1401266" cy="985441"/>
          </a:xfrm>
          <a:prstGeom prst="roundRect">
            <a:avLst>
              <a:gd name="adj" fmla="val 7733"/>
            </a:avLst>
          </a:prstGeom>
          <a:solidFill>
            <a:srgbClr val="14213D"/>
          </a:solidFill>
          <a:ln/>
        </p:spPr>
      </p:sp>
      <p:sp>
        <p:nvSpPr>
          <p:cNvPr id="9" name="Text 6"/>
          <p:cNvSpPr/>
          <p:nvPr/>
        </p:nvSpPr>
        <p:spPr>
          <a:xfrm>
            <a:off x="2798217" y="2113855"/>
            <a:ext cx="11472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CLEAN</a:t>
            </a:r>
            <a:endParaRPr lang="en-US" sz="1200" dirty="0"/>
          </a:p>
        </p:txBody>
      </p:sp>
      <p:sp>
        <p:nvSpPr>
          <p:cNvPr id="10" name="Text 7"/>
          <p:cNvSpPr/>
          <p:nvPr/>
        </p:nvSpPr>
        <p:spPr>
          <a:xfrm>
            <a:off x="2798217" y="2365276"/>
            <a:ext cx="114726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F1EA"/>
                </a:solidFill>
                <a:latin typeface="IBM Plex Sans" pitchFamily="34" charset="0"/>
                <a:ea typeface="IBM Plex Sans" pitchFamily="34" charset="-122"/>
                <a:cs typeface="IBM Plex Sans" pitchFamily="34" charset="-120"/>
              </a:rPr>
              <a:t>ham = 0, spam = 1</a:t>
            </a:r>
            <a:endParaRPr lang="en-US" sz="1300" dirty="0"/>
          </a:p>
        </p:txBody>
      </p:sp>
      <p:pic>
        <p:nvPicPr>
          <p:cNvPr id="11" name="Image 1" descr="arrow-right">    </p:cNvPr>
          <p:cNvPicPr>
            <a:picLocks noChangeAspect="1"/>
          </p:cNvPicPr>
          <p:nvPr/>
        </p:nvPicPr>
        <p:blipFill>
          <a:blip r:embed="rId2"/>
          <a:srcRect l="0" r="0" t="0" b="0"/>
          <a:stretch/>
        </p:blipFill>
        <p:spPr>
          <a:xfrm>
            <a:off x="4148683" y="2390676"/>
            <a:ext cx="228600" cy="127000"/>
          </a:xfrm>
          <a:prstGeom prst="rect">
            <a:avLst/>
          </a:prstGeom>
        </p:spPr>
      </p:pic>
      <p:sp>
        <p:nvSpPr>
          <p:cNvPr id="12" name="Shape 8"/>
          <p:cNvSpPr/>
          <p:nvPr/>
        </p:nvSpPr>
        <p:spPr>
          <a:xfrm>
            <a:off x="4478883" y="1961455"/>
            <a:ext cx="1401217" cy="985441"/>
          </a:xfrm>
          <a:prstGeom prst="roundRect">
            <a:avLst>
              <a:gd name="adj" fmla="val 7733"/>
            </a:avLst>
          </a:prstGeom>
          <a:solidFill>
            <a:srgbClr val="14213D"/>
          </a:solidFill>
          <a:ln/>
        </p:spPr>
      </p:sp>
      <p:sp>
        <p:nvSpPr>
          <p:cNvPr id="13" name="Text 9"/>
          <p:cNvSpPr/>
          <p:nvPr/>
        </p:nvSpPr>
        <p:spPr>
          <a:xfrm>
            <a:off x="4631283" y="2113855"/>
            <a:ext cx="1147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SPLIT</a:t>
            </a:r>
            <a:endParaRPr lang="en-US" sz="1200" dirty="0"/>
          </a:p>
        </p:txBody>
      </p:sp>
      <p:sp>
        <p:nvSpPr>
          <p:cNvPr id="14" name="Text 10"/>
          <p:cNvSpPr/>
          <p:nvPr/>
        </p:nvSpPr>
        <p:spPr>
          <a:xfrm>
            <a:off x="4631283" y="2365276"/>
            <a:ext cx="1147217"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F1EA"/>
                </a:solidFill>
                <a:latin typeface="IBM Plex Sans" pitchFamily="34" charset="0"/>
                <a:ea typeface="IBM Plex Sans" pitchFamily="34" charset="-122"/>
                <a:cs typeface="IBM Plex Sans" pitchFamily="34" charset="-120"/>
              </a:rPr>
              <a:t>80 / 20, stratified</a:t>
            </a:r>
            <a:endParaRPr lang="en-US" sz="1300" dirty="0"/>
          </a:p>
        </p:txBody>
      </p:sp>
      <p:pic>
        <p:nvPicPr>
          <p:cNvPr id="15" name="Image 2" descr="arrow-right">    </p:cNvPr>
          <p:cNvPicPr>
            <a:picLocks noChangeAspect="1"/>
          </p:cNvPicPr>
          <p:nvPr/>
        </p:nvPicPr>
        <p:blipFill>
          <a:blip r:embed="rId3"/>
          <a:srcRect l="0" r="0" t="0" b="0"/>
          <a:stretch/>
        </p:blipFill>
        <p:spPr>
          <a:xfrm>
            <a:off x="5981700" y="2390676"/>
            <a:ext cx="228600" cy="127000"/>
          </a:xfrm>
          <a:prstGeom prst="rect">
            <a:avLst/>
          </a:prstGeom>
        </p:spPr>
      </p:pic>
      <p:sp>
        <p:nvSpPr>
          <p:cNvPr id="16" name="Shape 11"/>
          <p:cNvSpPr/>
          <p:nvPr/>
        </p:nvSpPr>
        <p:spPr>
          <a:xfrm>
            <a:off x="6311900" y="1961455"/>
            <a:ext cx="1401266" cy="985441"/>
          </a:xfrm>
          <a:prstGeom prst="roundRect">
            <a:avLst>
              <a:gd name="adj" fmla="val 7733"/>
            </a:avLst>
          </a:prstGeom>
          <a:solidFill>
            <a:srgbClr val="14213D"/>
          </a:solidFill>
          <a:ln/>
        </p:spPr>
      </p:sp>
      <p:sp>
        <p:nvSpPr>
          <p:cNvPr id="17" name="Text 12"/>
          <p:cNvSpPr/>
          <p:nvPr/>
        </p:nvSpPr>
        <p:spPr>
          <a:xfrm>
            <a:off x="6464300" y="2113855"/>
            <a:ext cx="11472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TF-IDF</a:t>
            </a:r>
            <a:endParaRPr lang="en-US" sz="1200" dirty="0"/>
          </a:p>
        </p:txBody>
      </p:sp>
      <p:sp>
        <p:nvSpPr>
          <p:cNvPr id="18" name="Text 13"/>
          <p:cNvSpPr/>
          <p:nvPr/>
        </p:nvSpPr>
        <p:spPr>
          <a:xfrm>
            <a:off x="6464300" y="2365276"/>
            <a:ext cx="114726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F1EA"/>
                </a:solidFill>
                <a:latin typeface="IBM Plex Sans" pitchFamily="34" charset="0"/>
                <a:ea typeface="IBM Plex Sans" pitchFamily="34" charset="-122"/>
                <a:cs typeface="IBM Plex Sans" pitchFamily="34" charset="-120"/>
              </a:rPr>
              <a:t>7,441-word vocabulary</a:t>
            </a:r>
            <a:endParaRPr lang="en-US" sz="1300" dirty="0"/>
          </a:p>
        </p:txBody>
      </p:sp>
      <p:pic>
        <p:nvPicPr>
          <p:cNvPr id="19" name="Image 3" descr="arrow-right">    </p:cNvPr>
          <p:cNvPicPr>
            <a:picLocks noChangeAspect="1"/>
          </p:cNvPicPr>
          <p:nvPr/>
        </p:nvPicPr>
        <p:blipFill>
          <a:blip r:embed="rId4"/>
          <a:srcRect l="0" r="0" t="0" b="0"/>
          <a:stretch/>
        </p:blipFill>
        <p:spPr>
          <a:xfrm>
            <a:off x="7814766" y="2390676"/>
            <a:ext cx="228600" cy="127000"/>
          </a:xfrm>
          <a:prstGeom prst="rect">
            <a:avLst/>
          </a:prstGeom>
        </p:spPr>
      </p:pic>
      <p:sp>
        <p:nvSpPr>
          <p:cNvPr id="20" name="Shape 14"/>
          <p:cNvSpPr/>
          <p:nvPr/>
        </p:nvSpPr>
        <p:spPr>
          <a:xfrm>
            <a:off x="8144966" y="1854150"/>
            <a:ext cx="1401217" cy="1200051"/>
          </a:xfrm>
          <a:prstGeom prst="roundRect">
            <a:avLst>
              <a:gd name="adj" fmla="val 6350"/>
            </a:avLst>
          </a:prstGeom>
          <a:solidFill>
            <a:srgbClr val="2A78D6"/>
          </a:solidFill>
          <a:ln/>
        </p:spPr>
      </p:sp>
      <p:sp>
        <p:nvSpPr>
          <p:cNvPr id="21" name="Text 15"/>
          <p:cNvSpPr/>
          <p:nvPr/>
        </p:nvSpPr>
        <p:spPr>
          <a:xfrm>
            <a:off x="8297366" y="2006550"/>
            <a:ext cx="1147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E7CC"/>
                </a:solidFill>
                <a:latin typeface="IBM Plex Sans" pitchFamily="34" charset="0"/>
                <a:ea typeface="IBM Plex Sans" pitchFamily="34" charset="-122"/>
                <a:cs typeface="IBM Plex Sans" pitchFamily="34" charset="-120"/>
              </a:rPr>
              <a:t>TRAIN</a:t>
            </a:r>
            <a:endParaRPr lang="en-US" sz="1200" dirty="0"/>
          </a:p>
        </p:txBody>
      </p:sp>
      <p:sp>
        <p:nvSpPr>
          <p:cNvPr id="22" name="Text 16"/>
          <p:cNvSpPr/>
          <p:nvPr/>
        </p:nvSpPr>
        <p:spPr>
          <a:xfrm>
            <a:off x="8297366" y="2257971"/>
            <a:ext cx="1147217"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BM Plex Sans" pitchFamily="34" charset="0"/>
                <a:ea typeface="IBM Plex Sans" pitchFamily="34" charset="-122"/>
                <a:cs typeface="IBM Plex Sans" pitchFamily="34" charset="-120"/>
              </a:rPr>
              <a:t>Naive Bayes vs Logistic Reg.</a:t>
            </a:r>
            <a:endParaRPr lang="en-US" sz="1300" dirty="0"/>
          </a:p>
        </p:txBody>
      </p:sp>
      <p:pic>
        <p:nvPicPr>
          <p:cNvPr id="23" name="Image 4" descr="arrow-right">    </p:cNvPr>
          <p:cNvPicPr>
            <a:picLocks noChangeAspect="1"/>
          </p:cNvPicPr>
          <p:nvPr/>
        </p:nvPicPr>
        <p:blipFill>
          <a:blip r:embed="rId5"/>
          <a:srcRect l="0" r="0" t="0" b="0"/>
          <a:stretch/>
        </p:blipFill>
        <p:spPr>
          <a:xfrm>
            <a:off x="9647783" y="2390676"/>
            <a:ext cx="228600" cy="127000"/>
          </a:xfrm>
          <a:prstGeom prst="rect">
            <a:avLst/>
          </a:prstGeom>
        </p:spPr>
      </p:pic>
      <p:sp>
        <p:nvSpPr>
          <p:cNvPr id="24" name="Shape 17"/>
          <p:cNvSpPr/>
          <p:nvPr/>
        </p:nvSpPr>
        <p:spPr>
          <a:xfrm>
            <a:off x="9977983" y="1961455"/>
            <a:ext cx="1401217" cy="985441"/>
          </a:xfrm>
          <a:prstGeom prst="roundRect">
            <a:avLst>
              <a:gd name="adj" fmla="val 7733"/>
            </a:avLst>
          </a:prstGeom>
          <a:solidFill>
            <a:srgbClr val="C2412D"/>
          </a:solidFill>
          <a:ln/>
        </p:spPr>
      </p:sp>
      <p:sp>
        <p:nvSpPr>
          <p:cNvPr id="25" name="Text 18"/>
          <p:cNvSpPr/>
          <p:nvPr/>
        </p:nvSpPr>
        <p:spPr>
          <a:xfrm>
            <a:off x="10130383" y="2113855"/>
            <a:ext cx="1147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E7CC"/>
                </a:solidFill>
                <a:latin typeface="IBM Plex Sans" pitchFamily="34" charset="0"/>
                <a:ea typeface="IBM Plex Sans" pitchFamily="34" charset="-122"/>
                <a:cs typeface="IBM Plex Sans" pitchFamily="34" charset="-120"/>
              </a:rPr>
              <a:t>DEPLOY</a:t>
            </a:r>
            <a:endParaRPr lang="en-US" sz="1200" dirty="0"/>
          </a:p>
        </p:txBody>
      </p:sp>
      <p:sp>
        <p:nvSpPr>
          <p:cNvPr id="26" name="Text 19"/>
          <p:cNvSpPr/>
          <p:nvPr/>
        </p:nvSpPr>
        <p:spPr>
          <a:xfrm>
            <a:off x="10130383" y="2365276"/>
            <a:ext cx="1147217"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BM Plex Sans" pitchFamily="34" charset="0"/>
                <a:ea typeface="IBM Plex Sans" pitchFamily="34" charset="-122"/>
                <a:cs typeface="IBM Plex Sans" pitchFamily="34" charset="-120"/>
              </a:rPr>
              <a:t>best model in Streamlit</a:t>
            </a:r>
            <a:endParaRPr lang="en-US" sz="1300" dirty="0"/>
          </a:p>
        </p:txBody>
      </p:sp>
      <p:sp>
        <p:nvSpPr>
          <p:cNvPr id="27" name="Shape 20"/>
          <p:cNvSpPr/>
          <p:nvPr/>
        </p:nvSpPr>
        <p:spPr>
          <a:xfrm>
            <a:off x="815975" y="3336776"/>
            <a:ext cx="3511550" cy="2457450"/>
          </a:xfrm>
          <a:prstGeom prst="roundRect">
            <a:avLst>
              <a:gd name="adj" fmla="val 4005"/>
            </a:avLst>
          </a:prstGeom>
          <a:solidFill>
            <a:srgbClr val="FFFFFF"/>
          </a:solidFill>
          <a:ln w="6350">
            <a:solidFill>
              <a:srgbClr val="E2DCCF"/>
            </a:solidFill>
            <a:prstDash val="solid"/>
          </a:ln>
        </p:spPr>
      </p:sp>
      <p:pic>
        <p:nvPicPr>
          <p:cNvPr id="28" name="Image 5" descr="Colab code building the two scikit-learn pipelines and training them">    </p:cNvPr>
          <p:cNvPicPr>
            <a:picLocks noChangeAspect="1"/>
          </p:cNvPicPr>
          <p:nvPr/>
        </p:nvPicPr>
        <p:blipFill>
          <a:blip r:embed="rId6"/>
          <a:srcRect l="0" r="0" t="-38" b="-38"/>
          <a:stretch/>
        </p:blipFill>
        <p:spPr>
          <a:xfrm>
            <a:off x="920750" y="3441551"/>
            <a:ext cx="3302000" cy="2247900"/>
          </a:xfrm>
          <a:prstGeom prst="rect">
            <a:avLst/>
          </a:prstGeom>
        </p:spPr>
      </p:pic>
      <p:sp>
        <p:nvSpPr>
          <p:cNvPr id="29" name="Text 21"/>
          <p:cNvSpPr/>
          <p:nvPr/>
        </p:nvSpPr>
        <p:spPr>
          <a:xfrm>
            <a:off x="4584700" y="3333601"/>
            <a:ext cx="69983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TF-IDF weighting</a:t>
            </a:r>
            <a:endParaRPr lang="en-US" sz="1600" dirty="0"/>
          </a:p>
        </p:txBody>
      </p:sp>
      <p:sp>
        <p:nvSpPr>
          <p:cNvPr id="30" name="Text 22"/>
          <p:cNvSpPr/>
          <p:nvPr/>
        </p:nvSpPr>
        <p:spPr>
          <a:xfrm>
            <a:off x="4584700" y="3615531"/>
            <a:ext cx="699833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tf(t,d) × [ln((1+n)/(1+df(t))) + 1]</a:t>
            </a:r>
            <a:endParaRPr lang="en-US" sz="1300" dirty="0"/>
          </a:p>
        </p:txBody>
      </p:sp>
      <p:sp>
        <p:nvSpPr>
          <p:cNvPr id="31" name="Text 23"/>
          <p:cNvSpPr/>
          <p:nvPr/>
        </p:nvSpPr>
        <p:spPr>
          <a:xfrm>
            <a:off x="4584700" y="3973661"/>
            <a:ext cx="69983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Multinomial Naive Bayes</a:t>
            </a:r>
            <a:endParaRPr lang="en-US" sz="1600" dirty="0"/>
          </a:p>
        </p:txBody>
      </p:sp>
      <p:sp>
        <p:nvSpPr>
          <p:cNvPr id="32" name="Text 24"/>
          <p:cNvSpPr/>
          <p:nvPr/>
        </p:nvSpPr>
        <p:spPr>
          <a:xfrm>
            <a:off x="4584700" y="4255591"/>
            <a:ext cx="699833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JetBrains Mono" pitchFamily="49" charset="0"/>
                <a:ea typeface="JetBrains Mono" pitchFamily="49" charset="-122"/>
                <a:cs typeface="JetBrains Mono" pitchFamily="49" charset="-120"/>
              </a:rPr>
              <a:t>ŷ = argmax [log P(c) + Σ xᵢ log P(tᵢ|c)]</a:t>
            </a:r>
            <a:endParaRPr lang="en-US" sz="1300" dirty="0"/>
          </a:p>
        </p:txBody>
      </p:sp>
      <p:sp>
        <p:nvSpPr>
          <p:cNvPr id="33" name="Text 25"/>
          <p:cNvSpPr/>
          <p:nvPr/>
        </p:nvSpPr>
        <p:spPr>
          <a:xfrm>
            <a:off x="4584700" y="4613721"/>
            <a:ext cx="69983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TF-IDF is fitted on training messages only, so no test data leaks into training. The whole pipeline is saved as </a:t>
            </a:r>
            <a:r>
              <a:rPr lang="en-US" sz="1300" b="1" dirty="0">
                <a:solidFill>
                  <a:srgbClr val="14213D"/>
                </a:solidFill>
                <a:latin typeface="IBM Plex Sans" pitchFamily="34" charset="0"/>
                <a:ea typeface="IBM Plex Sans" pitchFamily="34" charset="-122"/>
                <a:cs typeface="IBM Plex Sans" pitchFamily="34" charset="-120"/>
              </a:rPr>
              <a:t>spam_model.pkl</a:t>
            </a:r>
            <a:r>
              <a:rPr lang="en-US" sz="1300" dirty="0">
                <a:solidFill>
                  <a:srgbClr val="4A5568"/>
                </a:solidFill>
                <a:latin typeface="IBM Plex Sans" pitchFamily="34" charset="0"/>
                <a:ea typeface="IBM Plex Sans" pitchFamily="34" charset="-122"/>
                <a:cs typeface="IBM Plex Sans" pitchFamily="34" charset="-120"/>
              </a:rPr>
              <a:t> with joblib.</a:t>
            </a:r>
            <a:endParaRPr lang="en-US" sz="1300" dirty="0"/>
          </a:p>
        </p:txBody>
      </p:sp>
      <p:sp>
        <p:nvSpPr>
          <p:cNvPr id="34"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Shikhar Aasal · SMS Spam Detection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06 · RESULTS ON 1,115 UNSEEN MESSAGES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Naive Bayes wins, with zero false alarms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5448300" cy="2950964"/>
        </p:xfrm>
        <a:graphic>
          <a:graphicData uri="http://schemas.openxmlformats.org/drawingml/2006/table">
            <a:tbl>
              <a:tblPr/>
              <a:tblGrid>
                <a:gridCol w="2179320"/>
                <a:gridCol w="1634490"/>
                <a:gridCol w="1634490"/>
              </a:tblGrid>
              <a:tr h="386011">
                <a:tc>
                  <a:txBody>
                    <a:bodyPr/>
                    <a:lstStyle/>
                    <a:p>
                      <a:pP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Measure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Naive Bayes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Logistic Reg.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96.86%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EC8"/>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96.77%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EC8"/>
                      </a:solidFill>
                      <a:prstDash val="solid"/>
                      <a:round/>
                      <a:headEnd type="none" w="med" len="med"/>
                      <a:tailEnd type="none" w="med" len="med"/>
                    </a:lnL>
                    <a:lnR w="12700" cap="flat" cmpd="sng" algn="ctr">
                      <a:solidFill>
                        <a:srgbClr val="B5BE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5BEC8"/>
                      </a:solidFill>
                      <a:prstDash val="solid"/>
                      <a:round/>
                      <a:headEnd type="none" w="med" len="med"/>
                      <a:tailEnd type="none" w="med" len="med"/>
                    </a:lnB>
                    <a:solidFill>
                      <a:srgbClr val="E3EEF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Spam precision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E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E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E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Spam recall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76.5%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75.8%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F1-score (spam)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0.863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ROC-AUC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0.989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0.988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r>
              <a:tr h="63490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False alarms / missed spam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 / 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 / 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6581775" y="2310457"/>
            <a:ext cx="4794250" cy="2101850"/>
          </a:xfrm>
          <a:prstGeom prst="roundRect">
            <a:avLst>
              <a:gd name="adj" fmla="val 4683"/>
            </a:avLst>
          </a:prstGeom>
          <a:solidFill>
            <a:srgbClr val="FFFFFF"/>
          </a:solidFill>
          <a:ln w="6350">
            <a:solidFill>
              <a:srgbClr val="E2DCCF"/>
            </a:solidFill>
            <a:prstDash val="solid"/>
          </a:ln>
        </p:spPr>
      </p:sp>
      <p:pic>
        <p:nvPicPr>
          <p:cNvPr id="6" name="Image 0" descr="Confusion matrices: Naive Bayes 966, 0, 35, 114; Logistic Regression 966, 0, 36, 113">    </p:cNvPr>
          <p:cNvPicPr>
            <a:picLocks noChangeAspect="1"/>
          </p:cNvPicPr>
          <p:nvPr/>
        </p:nvPicPr>
        <p:blipFill>
          <a:blip r:embed="rId1"/>
          <a:srcRect l="-5781" r="-5781" t="0" b="0"/>
          <a:stretch/>
        </p:blipFill>
        <p:spPr>
          <a:xfrm>
            <a:off x="6686550" y="2415232"/>
            <a:ext cx="4584700" cy="1892300"/>
          </a:xfrm>
          <a:prstGeom prst="rect">
            <a:avLst/>
          </a:prstGeom>
        </p:spPr>
      </p:pic>
      <p:sp>
        <p:nvSpPr>
          <p:cNvPr id="7" name="Text 3"/>
          <p:cNvSpPr/>
          <p:nvPr/>
        </p:nvSpPr>
        <p:spPr>
          <a:xfrm>
            <a:off x="812800" y="5148014"/>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model that calls everything ham would already score </a:t>
            </a:r>
            <a:r>
              <a:rPr lang="en-US" sz="1400" b="1" dirty="0">
                <a:solidFill>
                  <a:srgbClr val="14213D"/>
                </a:solidFill>
                <a:latin typeface="IBM Plex Sans" pitchFamily="34" charset="0"/>
                <a:ea typeface="IBM Plex Sans" pitchFamily="34" charset="-122"/>
                <a:cs typeface="IBM Plex Sans" pitchFamily="34" charset="-120"/>
              </a:rPr>
              <a:t>86.64%</a:t>
            </a:r>
            <a:r>
              <a:rPr lang="en-US" sz="1400" dirty="0">
                <a:solidFill>
                  <a:srgbClr val="4A5568"/>
                </a:solidFill>
                <a:latin typeface="IBM Plex Sans" pitchFamily="34" charset="0"/>
                <a:ea typeface="IBM Plex Sans" pitchFamily="34" charset="-122"/>
                <a:cs typeface="IBM Plex Sans" pitchFamily="34" charset="-120"/>
              </a:rPr>
              <a:t> and catch no spam, which is why precision and recall matter more than accuracy here.</a:t>
            </a:r>
            <a:endParaRPr lang="en-US" sz="14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Shikhar Aasal · SMS Spam Detection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07 · VALIDATION</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Robust results, tunable threshold</a:t>
            </a:r>
            <a:endParaRPr lang="en-US" sz="3200" dirty="0"/>
          </a:p>
        </p:txBody>
      </p:sp>
      <p:sp>
        <p:nvSpPr>
          <p:cNvPr id="4" name="Text 2"/>
          <p:cNvSpPr/>
          <p:nvPr/>
        </p:nvSpPr>
        <p:spPr>
          <a:xfrm>
            <a:off x="812800" y="1879550"/>
            <a:ext cx="40551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5-fold cross-validation</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18941"/>
          <a:ext cx="3924300" cy="1930053"/>
        </p:xfrm>
        <a:graphic>
          <a:graphicData uri="http://schemas.openxmlformats.org/drawingml/2006/table">
            <a:tbl>
              <a:tblPr/>
              <a:tblGrid>
                <a:gridCol w="1569720"/>
                <a:gridCol w="1177290"/>
                <a:gridCol w="1177290"/>
              </a:tblGrid>
              <a:tr h="386011">
                <a:tc>
                  <a:txBody>
                    <a:bodyPr/>
                    <a:lstStyle/>
                    <a:p>
                      <a:pP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Mean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NB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1EA"/>
                          </a:solidFill>
                          <a:latin typeface="IBM Plex Sans" pitchFamily="34" charset="0"/>
                          <a:ea typeface="IBM Plex Sans" pitchFamily="34" charset="-122"/>
                          <a:cs typeface="IBM Plex Sans" pitchFamily="34" charset="-120"/>
                        </a:rPr>
                        <a:t>LR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97.09%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96.21%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99.84%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98.73%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78.44%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72.69%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F1-score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87.84%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83.73%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5C1"/>
                      </a:solidFill>
                      <a:prstDash val="solid"/>
                      <a:round/>
                      <a:headEnd type="none" w="med" len="med"/>
                      <a:tailEnd type="none" w="med" len="med"/>
                    </a:lnB>
                    <a:solidFill>
                      <a:srgbClr val="F9F7F2"/>
                    </a:solidFill>
                  </a:tcPr>
                </a:tc>
              </a:tr>
            </a:tbl>
          </a:graphicData>
        </a:graphic>
      </p:graphicFrame>
      <p:sp>
        <p:nvSpPr>
          <p:cNvPr id="6" name="Text 3"/>
          <p:cNvSpPr/>
          <p:nvPr/>
        </p:nvSpPr>
        <p:spPr>
          <a:xfrm>
            <a:off x="812800" y="4401393"/>
            <a:ext cx="40551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Naive Bayes leads on every metric except ROC-AUC (98.8 vs 99.1), so the selection is not a lucky split.</a:t>
            </a:r>
            <a:endParaRPr lang="en-US" sz="1300" dirty="0"/>
          </a:p>
        </p:txBody>
      </p:sp>
      <p:sp>
        <p:nvSpPr>
          <p:cNvPr id="7" name="Text 4"/>
          <p:cNvSpPr/>
          <p:nvPr/>
        </p:nvSpPr>
        <p:spPr>
          <a:xfrm>
            <a:off x="5054600" y="1879550"/>
            <a:ext cx="651433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Spam threshold trade-off (NB)</a:t>
            </a:r>
            <a:endParaRPr lang="en-US" sz="1800" dirty="0"/>
          </a:p>
        </p:txBody>
      </p:sp>
      <p:sp>
        <p:nvSpPr>
          <p:cNvPr id="8" name="Shape 5"/>
          <p:cNvSpPr/>
          <p:nvPr/>
        </p:nvSpPr>
        <p:spPr>
          <a:xfrm>
            <a:off x="5057775" y="2309416"/>
            <a:ext cx="6318250" cy="2622550"/>
          </a:xfrm>
          <a:prstGeom prst="roundRect">
            <a:avLst>
              <a:gd name="adj" fmla="val 3753"/>
            </a:avLst>
          </a:prstGeom>
          <a:solidFill>
            <a:srgbClr val="FFFFFF"/>
          </a:solidFill>
          <a:ln w="6350">
            <a:solidFill>
              <a:srgbClr val="E2DCCF"/>
            </a:solidFill>
            <a:prstDash val="solid"/>
          </a:ln>
        </p:spPr>
      </p:sp>
      <p:pic>
        <p:nvPicPr>
          <p:cNvPr id="9" name="Image 0" descr="Line chart: recall falls and precision rises as the spam threshold increases from 0.05 to 0.95">    </p:cNvPr>
          <p:cNvPicPr>
            <a:picLocks noChangeAspect="1"/>
          </p:cNvPicPr>
          <p:nvPr/>
        </p:nvPicPr>
        <p:blipFill>
          <a:blip r:embed="rId1"/>
          <a:srcRect l="-10907" r="-10907" t="0" b="0"/>
          <a:stretch/>
        </p:blipFill>
        <p:spPr>
          <a:xfrm>
            <a:off x="5162550" y="2414191"/>
            <a:ext cx="6108700" cy="2413000"/>
          </a:xfrm>
          <a:prstGeom prst="rect">
            <a:avLst/>
          </a:prstGeom>
        </p:spPr>
      </p:pic>
      <p:sp>
        <p:nvSpPr>
          <p:cNvPr id="10" name="Text 6"/>
          <p:cNvSpPr/>
          <p:nvPr/>
        </p:nvSpPr>
        <p:spPr>
          <a:xfrm>
            <a:off x="5054600" y="5087541"/>
            <a:ext cx="65143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At </a:t>
            </a:r>
            <a:r>
              <a:rPr lang="en-US" sz="1300" b="1" dirty="0">
                <a:solidFill>
                  <a:srgbClr val="14213D"/>
                </a:solidFill>
                <a:latin typeface="IBM Plex Sans" pitchFamily="34" charset="0"/>
                <a:ea typeface="IBM Plex Sans" pitchFamily="34" charset="-122"/>
                <a:cs typeface="IBM Plex Sans" pitchFamily="34" charset="-120"/>
              </a:rPr>
              <a:t>0.5</a:t>
            </a:r>
            <a:r>
              <a:rPr lang="en-US" sz="1300" dirty="0">
                <a:solidFill>
                  <a:srgbClr val="4A5568"/>
                </a:solidFill>
                <a:latin typeface="IBM Plex Sans" pitchFamily="34" charset="0"/>
                <a:ea typeface="IBM Plex Sans" pitchFamily="34" charset="-122"/>
                <a:cs typeface="IBM Plex Sans" pitchFamily="34" charset="-120"/>
              </a:rPr>
              <a:t>: 76.5% recall, 0 false alarms · at </a:t>
            </a:r>
            <a:r>
              <a:rPr lang="en-US" sz="1300" b="1" dirty="0">
                <a:solidFill>
                  <a:srgbClr val="14213D"/>
                </a:solidFill>
                <a:latin typeface="IBM Plex Sans" pitchFamily="34" charset="0"/>
                <a:ea typeface="IBM Plex Sans" pitchFamily="34" charset="-122"/>
                <a:cs typeface="IBM Plex Sans" pitchFamily="34" charset="-120"/>
              </a:rPr>
              <a:t>0.3</a:t>
            </a:r>
            <a:r>
              <a:rPr lang="en-US" sz="1300" dirty="0">
                <a:solidFill>
                  <a:srgbClr val="4A5568"/>
                </a:solidFill>
                <a:latin typeface="IBM Plex Sans" pitchFamily="34" charset="0"/>
                <a:ea typeface="IBM Plex Sans" pitchFamily="34" charset="-122"/>
                <a:cs typeface="IBM Plex Sans" pitchFamily="34" charset="-120"/>
              </a:rPr>
              <a:t>: 83.2% recall, only 2 false alarms</a:t>
            </a:r>
            <a:endParaRPr lang="en-US" sz="1300" dirty="0"/>
          </a:p>
        </p:txBody>
      </p:sp>
      <p:sp>
        <p:nvSpPr>
          <p:cNvPr id="11"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Shikhar Aasal · SMS Spam Detection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EF5"/>
        </a:solidFill>
      </p:bgPr>
    </p:bg>
    <p:spTree>
      <p:nvGrpSpPr>
        <p:cNvPr id="1" name=""/>
        <p:cNvGrpSpPr/>
        <p:nvPr/>
      </p:nvGrpSpPr>
      <p:grpSpPr>
        <a:xfrm>
          <a:off x="0" y="0"/>
          <a:ext cx="0" cy="0"/>
          <a:chOff x="0" y="0"/>
          <a:chExt cx="0" cy="0"/>
        </a:xfrm>
      </p:grpSpPr>
      <p:sp>
        <p:nvSpPr>
          <p:cNvPr id="2" name="Shape 0"/>
          <p:cNvSpPr/>
          <p:nvPr/>
        </p:nvSpPr>
        <p:spPr>
          <a:xfrm>
            <a:off x="815975" y="1203325"/>
            <a:ext cx="5035550" cy="4248150"/>
          </a:xfrm>
          <a:prstGeom prst="roundRect">
            <a:avLst>
              <a:gd name="adj" fmla="val 2317"/>
            </a:avLst>
          </a:prstGeom>
          <a:solidFill>
            <a:srgbClr val="FFFFFF"/>
          </a:solidFill>
          <a:ln w="6350">
            <a:solidFill>
              <a:srgbClr val="C9D3E3"/>
            </a:solidFill>
            <a:prstDash val="solid"/>
          </a:ln>
        </p:spPr>
      </p:sp>
      <p:pic>
        <p:nvPicPr>
          <p:cNvPr id="3" name="Image 0" descr="Streamlit app showing Likely spam at 97.4% with spam words highlighted in red">    </p:cNvPr>
          <p:cNvPicPr>
            <a:picLocks noChangeAspect="1"/>
          </p:cNvPicPr>
          <p:nvPr/>
        </p:nvPicPr>
        <p:blipFill>
          <a:blip r:embed="rId1"/>
          <a:srcRect l="0" r="0" t="-6" b="-6"/>
          <a:stretch/>
        </p:blipFill>
        <p:spPr>
          <a:xfrm>
            <a:off x="920750" y="1308100"/>
            <a:ext cx="4826000" cy="4038600"/>
          </a:xfrm>
          <a:prstGeom prst="rect">
            <a:avLst/>
          </a:prstGeom>
        </p:spPr>
      </p:pic>
      <p:sp>
        <p:nvSpPr>
          <p:cNvPr id="4" name="Text 1"/>
          <p:cNvSpPr/>
          <p:nvPr/>
        </p:nvSpPr>
        <p:spPr>
          <a:xfrm>
            <a:off x="6261100" y="1444030"/>
            <a:ext cx="527164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12D"/>
                </a:solidFill>
                <a:latin typeface="IBM Plex Sans" pitchFamily="34" charset="0"/>
                <a:ea typeface="IBM Plex Sans" pitchFamily="34" charset="-122"/>
                <a:cs typeface="IBM Plex Sans" pitchFamily="34" charset="-120"/>
              </a:rPr>
              <a:t>08 · THE WEB APP</a:t>
            </a:r>
            <a:endParaRPr lang="en-US" sz="1200" dirty="0"/>
          </a:p>
        </p:txBody>
      </p:sp>
      <p:sp>
        <p:nvSpPr>
          <p:cNvPr id="5" name="Text 2"/>
          <p:cNvSpPr/>
          <p:nvPr>
            <p:ph type="title"/>
          </p:nvPr>
        </p:nvSpPr>
        <p:spPr>
          <a:xfrm>
            <a:off x="6261100" y="1758950"/>
            <a:ext cx="5271643"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It explains every verdict</a:t>
            </a:r>
            <a:endParaRPr lang="en-US" sz="3200" dirty="0"/>
          </a:p>
        </p:txBody>
      </p:sp>
      <p:pic>
        <p:nvPicPr>
          <p:cNvPr id="6" name="Image 1" descr="Search">    </p:cNvPr>
          <p:cNvPicPr>
            <a:picLocks noChangeAspect="1"/>
          </p:cNvPicPr>
          <p:nvPr/>
        </p:nvPicPr>
        <p:blipFill>
          <a:blip r:embed="rId2"/>
          <a:srcRect l="0" r="0" t="0" b="0"/>
          <a:stretch/>
        </p:blipFill>
        <p:spPr>
          <a:xfrm>
            <a:off x="6261100" y="2409180"/>
            <a:ext cx="279400" cy="279400"/>
          </a:xfrm>
          <a:prstGeom prst="rect">
            <a:avLst/>
          </a:prstGeom>
        </p:spPr>
      </p:pic>
      <p:sp>
        <p:nvSpPr>
          <p:cNvPr id="7" name="Text 3"/>
          <p:cNvSpPr/>
          <p:nvPr/>
        </p:nvSpPr>
        <p:spPr>
          <a:xfrm>
            <a:off x="6667500" y="2420293"/>
            <a:ext cx="411390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Spam probability plus highlighted words</a:t>
            </a:r>
            <a:endParaRPr lang="en-US" sz="1500" dirty="0"/>
          </a:p>
        </p:txBody>
      </p:sp>
      <p:pic>
        <p:nvPicPr>
          <p:cNvPr id="8" name="Image 2" descr="Settings">    </p:cNvPr>
          <p:cNvPicPr>
            <a:picLocks noChangeAspect="1"/>
          </p:cNvPicPr>
          <p:nvPr/>
        </p:nvPicPr>
        <p:blipFill>
          <a:blip r:embed="rId3"/>
          <a:srcRect l="0" r="0" t="0" b="0"/>
          <a:stretch/>
        </p:blipFill>
        <p:spPr>
          <a:xfrm>
            <a:off x="6261100" y="2815580"/>
            <a:ext cx="279400" cy="279400"/>
          </a:xfrm>
          <a:prstGeom prst="rect">
            <a:avLst/>
          </a:prstGeom>
        </p:spPr>
      </p:pic>
      <p:sp>
        <p:nvSpPr>
          <p:cNvPr id="9" name="Text 4"/>
          <p:cNvSpPr/>
          <p:nvPr/>
        </p:nvSpPr>
        <p:spPr>
          <a:xfrm>
            <a:off x="6667500" y="2826693"/>
            <a:ext cx="275421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Adjustable spam threshold</a:t>
            </a:r>
            <a:endParaRPr lang="en-US" sz="1500" dirty="0"/>
          </a:p>
        </p:txBody>
      </p:sp>
      <p:pic>
        <p:nvPicPr>
          <p:cNvPr id="10" name="Image 3" descr="Chart">    </p:cNvPr>
          <p:cNvPicPr>
            <a:picLocks noChangeAspect="1"/>
          </p:cNvPicPr>
          <p:nvPr/>
        </p:nvPicPr>
        <p:blipFill>
          <a:blip r:embed="rId4"/>
          <a:srcRect l="0" r="0" t="0" b="0"/>
          <a:stretch/>
        </p:blipFill>
        <p:spPr>
          <a:xfrm>
            <a:off x="6261100" y="3221980"/>
            <a:ext cx="279400" cy="279400"/>
          </a:xfrm>
          <a:prstGeom prst="rect">
            <a:avLst/>
          </a:prstGeom>
        </p:spPr>
      </p:pic>
      <p:sp>
        <p:nvSpPr>
          <p:cNvPr id="11" name="Text 5"/>
          <p:cNvSpPr/>
          <p:nvPr/>
        </p:nvSpPr>
        <p:spPr>
          <a:xfrm>
            <a:off x="6667500" y="3233093"/>
            <a:ext cx="354699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Live performance and dataset tabs</a:t>
            </a:r>
            <a:endParaRPr lang="en-US" sz="1500" dirty="0"/>
          </a:p>
        </p:txBody>
      </p:sp>
      <p:pic>
        <p:nvPicPr>
          <p:cNvPr id="12" name="Image 4" descr="CheckCircle">    </p:cNvPr>
          <p:cNvPicPr>
            <a:picLocks noChangeAspect="1"/>
          </p:cNvPicPr>
          <p:nvPr/>
        </p:nvPicPr>
        <p:blipFill>
          <a:blip r:embed="rId5"/>
          <a:srcRect l="0" r="0" t="0" b="0"/>
          <a:stretch/>
        </p:blipFill>
        <p:spPr>
          <a:xfrm>
            <a:off x="6261100" y="3628380"/>
            <a:ext cx="279400" cy="279400"/>
          </a:xfrm>
          <a:prstGeom prst="rect">
            <a:avLst/>
          </a:prstGeom>
        </p:spPr>
      </p:pic>
      <p:sp>
        <p:nvSpPr>
          <p:cNvPr id="13" name="Text 6"/>
          <p:cNvSpPr/>
          <p:nvPr/>
        </p:nvSpPr>
        <p:spPr>
          <a:xfrm>
            <a:off x="6667500" y="3639493"/>
            <a:ext cx="35410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IBM Plex Sans" pitchFamily="34" charset="0"/>
                <a:ea typeface="IBM Plex Sans" pitchFamily="34" charset="-122"/>
                <a:cs typeface="IBM Plex Sans" pitchFamily="34" charset="-120"/>
              </a:rPr>
              <a:t>6 of 6 functional test cases passed</a:t>
            </a:r>
            <a:endParaRPr lang="en-US" sz="1500" dirty="0"/>
          </a:p>
        </p:txBody>
      </p:sp>
      <p:sp>
        <p:nvSpPr>
          <p:cNvPr id="14" name="Shape 7"/>
          <p:cNvSpPr/>
          <p:nvPr/>
        </p:nvSpPr>
        <p:spPr>
          <a:xfrm>
            <a:off x="6261100" y="4110980"/>
            <a:ext cx="5118100" cy="1099790"/>
          </a:xfrm>
          <a:prstGeom prst="roundRect">
            <a:avLst>
              <a:gd name="adj" fmla="val 9238"/>
            </a:avLst>
          </a:prstGeom>
          <a:solidFill>
            <a:srgbClr val="FFFFFF"/>
          </a:solidFill>
          <a:ln/>
        </p:spPr>
      </p:sp>
      <p:sp>
        <p:nvSpPr>
          <p:cNvPr id="15" name="Shape 8"/>
          <p:cNvSpPr/>
          <p:nvPr/>
        </p:nvSpPr>
        <p:spPr>
          <a:xfrm>
            <a:off x="6261100" y="4110980"/>
            <a:ext cx="5118100" cy="1099790"/>
          </a:xfrm>
          <a:custGeom>
            <a:avLst/>
            <a:gdLst/>
            <a:ahLst/>
            <a:cxnLst/>
            <a:rect l="l" t="t" r="r" b="b"/>
            <a:pathLst>
              <a:path w="5118100" h="1099790">
                <a:moveTo>
                  <a:pt x="101600" y="1099790"/>
                </a:moveTo>
                <a:lnTo>
                  <a:pt x="101600" y="1099790"/>
                </a:lnTo>
                <a:arcTo hR="101600" wR="101600" stAng="5400000" swAng="5400000"/>
                <a:lnTo>
                  <a:pt x="0" y="101600"/>
                </a:lnTo>
                <a:arcTo hR="101600" wR="101600" stAng="10800000" swAng="5400000"/>
                <a:lnTo>
                  <a:pt x="101600" y="0"/>
                </a:lnTo>
                <a:arcTo hR="101600" wR="50800" stAng="16200000" swAng="-5400000"/>
                <a:lnTo>
                  <a:pt x="50800" y="998190"/>
                </a:lnTo>
                <a:arcTo hR="101600" wR="50800" stAng="10800000" swAng="-5400000"/>
                <a:close/>
              </a:path>
            </a:pathLst>
          </a:custGeom>
          <a:solidFill>
            <a:srgbClr val="C2412D"/>
          </a:solidFill>
          <a:ln/>
        </p:spPr>
      </p:sp>
      <p:sp>
        <p:nvSpPr>
          <p:cNvPr id="16" name="Text 9"/>
          <p:cNvSpPr/>
          <p:nvPr/>
        </p:nvSpPr>
        <p:spPr>
          <a:xfrm>
            <a:off x="6515100" y="4288780"/>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12D"/>
                </a:solidFill>
                <a:latin typeface="IBM Plex Sans" pitchFamily="34" charset="0"/>
                <a:ea typeface="IBM Plex Sans" pitchFamily="34" charset="-122"/>
                <a:cs typeface="IBM Plex Sans" pitchFamily="34" charset="-120"/>
              </a:rPr>
              <a:t>Honest limitation</a:t>
            </a:r>
            <a:endParaRPr lang="en-US" sz="1300" dirty="0"/>
          </a:p>
        </p:txBody>
      </p:sp>
      <p:sp>
        <p:nvSpPr>
          <p:cNvPr id="17" name="Text 10"/>
          <p:cNvSpPr/>
          <p:nvPr/>
        </p:nvSpPr>
        <p:spPr>
          <a:xfrm>
            <a:off x="6515100" y="4570710"/>
            <a:ext cx="480072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 modern fake-parcel scam scores only </a:t>
            </a:r>
            <a:r>
              <a:rPr lang="en-US" sz="1300" b="1" dirty="0">
                <a:solidFill>
                  <a:srgbClr val="14213D"/>
                </a:solidFill>
                <a:latin typeface="IBM Plex Sans" pitchFamily="34" charset="0"/>
                <a:ea typeface="IBM Plex Sans" pitchFamily="34" charset="-122"/>
                <a:cs typeface="IBM Plex Sans" pitchFamily="34" charset="-120"/>
              </a:rPr>
              <a:t>37.2%</a:t>
            </a:r>
            <a:r>
              <a:rPr lang="en-US" sz="1300" dirty="0">
                <a:solidFill>
                  <a:srgbClr val="14213D"/>
                </a:solidFill>
                <a:latin typeface="IBM Plex Sans" pitchFamily="34" charset="0"/>
                <a:ea typeface="IBM Plex Sans" pitchFamily="34" charset="-122"/>
                <a:cs typeface="IBM Plex Sans" pitchFamily="34" charset="-120"/>
              </a:rPr>
              <a:t> and slips through: the training data predates such scams.</a:t>
            </a:r>
            <a:endParaRPr lang="en-US" sz="1300" dirty="0"/>
          </a:p>
        </p:txBody>
      </p:sp>
      <p:sp>
        <p:nvSpPr>
          <p:cNvPr id="18"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Live: sms-spam-detection-ai.streamlit.app · Code: github.com/shikharaasal/sms-spam-detection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09 · CONCLUSION AND FUTURE WORK</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A"/>
                </a:solidFill>
                <a:latin typeface="Rubik" pitchFamily="34" charset="0"/>
                <a:ea typeface="Rubik" pitchFamily="34" charset="-122"/>
                <a:cs typeface="Rubik" pitchFamily="34" charset="-120"/>
              </a:rPr>
              <a:t>A small filter that met its targets</a:t>
            </a:r>
            <a:endParaRPr lang="en-US" sz="3200" dirty="0"/>
          </a:p>
        </p:txBody>
      </p:sp>
      <p:sp>
        <p:nvSpPr>
          <p:cNvPr id="4" name="Shape 2"/>
          <p:cNvSpPr/>
          <p:nvPr/>
        </p:nvSpPr>
        <p:spPr>
          <a:xfrm>
            <a:off x="812800" y="1803350"/>
            <a:ext cx="5130800" cy="1813371"/>
          </a:xfrm>
          <a:prstGeom prst="roundRect">
            <a:avLst>
              <a:gd name="adj" fmla="val 5603"/>
            </a:avLst>
          </a:prstGeom>
          <a:solidFill>
            <a:srgbClr val="1E2E4F"/>
          </a:solidFill>
          <a:ln/>
        </p:spPr>
      </p:sp>
      <p:sp>
        <p:nvSpPr>
          <p:cNvPr id="5" name="Text 3"/>
          <p:cNvSpPr/>
          <p:nvPr/>
        </p:nvSpPr>
        <p:spPr>
          <a:xfrm>
            <a:off x="1016000" y="2006550"/>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Rubik" pitchFamily="34" charset="0"/>
                <a:ea typeface="Rubik" pitchFamily="34" charset="-122"/>
                <a:cs typeface="Rubik" pitchFamily="34" charset="-120"/>
              </a:rPr>
              <a:t>Achieved</a:t>
            </a:r>
            <a:endParaRPr lang="en-US" sz="1800" dirty="0"/>
          </a:p>
        </p:txBody>
      </p:sp>
      <p:sp>
        <p:nvSpPr>
          <p:cNvPr id="6" name="Text 4"/>
          <p:cNvSpPr/>
          <p:nvPr/>
        </p:nvSpPr>
        <p:spPr>
          <a:xfrm>
            <a:off x="1094232" y="2382441"/>
            <a:ext cx="4780280"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96.86% accuracy, 100% spam precision</a:t>
            </a:r>
            <a:endParaRPr lang="en-US" sz="1400" dirty="0"/>
          </a:p>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Robust in 5-fold cross-validation (97.09%)</a:t>
            </a:r>
            <a:endParaRPr lang="en-US" sz="1400" dirty="0"/>
          </a:p>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Deployed, tested, explainable web app</a:t>
            </a:r>
            <a:endParaRPr lang="en-US" sz="1400" dirty="0"/>
          </a:p>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Partly met: recall 76.5% (83.2% at 0.3)</a:t>
            </a:r>
            <a:endParaRPr lang="en-US" sz="1400" dirty="0"/>
          </a:p>
        </p:txBody>
      </p:sp>
      <p:sp>
        <p:nvSpPr>
          <p:cNvPr id="7" name="Shape 5"/>
          <p:cNvSpPr/>
          <p:nvPr/>
        </p:nvSpPr>
        <p:spPr>
          <a:xfrm>
            <a:off x="6248400" y="1803350"/>
            <a:ext cx="5130800" cy="1813371"/>
          </a:xfrm>
          <a:prstGeom prst="roundRect">
            <a:avLst>
              <a:gd name="adj" fmla="val 5603"/>
            </a:avLst>
          </a:prstGeom>
          <a:solidFill>
            <a:srgbClr val="1E2E4F"/>
          </a:solidFill>
          <a:ln/>
        </p:spPr>
      </p:sp>
      <p:sp>
        <p:nvSpPr>
          <p:cNvPr id="8" name="Text 6"/>
          <p:cNvSpPr/>
          <p:nvPr/>
        </p:nvSpPr>
        <p:spPr>
          <a:xfrm>
            <a:off x="6451600" y="2006550"/>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Rubik" pitchFamily="34" charset="0"/>
                <a:ea typeface="Rubik" pitchFamily="34" charset="-122"/>
                <a:cs typeface="Rubik" pitchFamily="34" charset="-120"/>
              </a:rPr>
              <a:t>Next steps</a:t>
            </a:r>
            <a:endParaRPr lang="en-US" sz="1800" dirty="0"/>
          </a:p>
        </p:txBody>
      </p:sp>
      <p:sp>
        <p:nvSpPr>
          <p:cNvPr id="9" name="Text 7"/>
          <p:cNvSpPr/>
          <p:nvPr/>
        </p:nvSpPr>
        <p:spPr>
          <a:xfrm>
            <a:off x="6529832" y="2382441"/>
            <a:ext cx="4780280"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Retrain on recent Indian and Hinglish scams</a:t>
            </a:r>
            <a:endParaRPr lang="en-US" sz="1400" dirty="0"/>
          </a:p>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Add character n-gram and URL features</a:t>
            </a:r>
            <a:endParaRPr lang="en-US" sz="1400" dirty="0"/>
          </a:p>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Compare SVM and DistilBERT</a:t>
            </a:r>
            <a:endParaRPr lang="en-US" sz="1400" dirty="0"/>
          </a:p>
          <a:p>
            <a:pPr algn="l" marL="175768" indent="-175768">
              <a:lnSpc>
                <a:spcPts val="2030"/>
              </a:lnSpc>
              <a:buSzPct val="100000"/>
              <a:buChar char="•"/>
            </a:pPr>
            <a:r>
              <a:rPr lang="en-US" sz="1400" dirty="0">
                <a:solidFill>
                  <a:srgbClr val="DCE3EE"/>
                </a:solidFill>
                <a:latin typeface="IBM Plex Sans" pitchFamily="34" charset="0"/>
                <a:ea typeface="IBM Plex Sans" pitchFamily="34" charset="-122"/>
                <a:cs typeface="IBM Plex Sans" pitchFamily="34" charset="-120"/>
              </a:rPr>
              <a:t>On-device Android version</a:t>
            </a:r>
            <a:endParaRPr lang="en-US" sz="1400" dirty="0"/>
          </a:p>
        </p:txBody>
      </p:sp>
      <p:sp>
        <p:nvSpPr>
          <p:cNvPr id="10" name="Text 8"/>
          <p:cNvSpPr/>
          <p:nvPr/>
        </p:nvSpPr>
        <p:spPr>
          <a:xfrm>
            <a:off x="812800" y="3845322"/>
            <a:ext cx="4901565"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4F1EA"/>
                </a:solidFill>
                <a:latin typeface="Rubik" pitchFamily="34" charset="0"/>
                <a:ea typeface="Rubik" pitchFamily="34" charset="-122"/>
                <a:cs typeface="Rubik" pitchFamily="34" charset="-120"/>
              </a:rPr>
              <a:t>Thank you · Questions?</a:t>
            </a:r>
            <a:endParaRPr lang="en-US" sz="2800" dirty="0"/>
          </a:p>
        </p:txBody>
      </p:sp>
      <p:sp>
        <p:nvSpPr>
          <p:cNvPr id="11" name="Text 9"/>
          <p:cNvSpPr/>
          <p:nvPr/>
        </p:nvSpPr>
        <p:spPr>
          <a:xfrm>
            <a:off x="8594209" y="3969792"/>
            <a:ext cx="2784991"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9FB0C8"/>
                </a:solidFill>
                <a:latin typeface="IBM Plex Sans" pitchFamily="34" charset="0"/>
                <a:ea typeface="IBM Plex Sans" pitchFamily="34" charset="-122"/>
                <a:cs typeface="IBM Plex Sans" pitchFamily="34" charset="-120"/>
              </a:rPr>
              <a:t>Shikhar Aasal · 26BDA70036</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IBM Plex Sans" pitchFamily="34" charset="0"/>
                <a:ea typeface="IBM Plex Sans" pitchFamily="34" charset="-122"/>
                <a:cs typeface="IBM Plex Sans" pitchFamily="34" charset="-120"/>
              </a:rPr>
              <a:t>Shikhar Aasal · SMS Spam Detection · 10</a:t>
            </a:r>
            <a:endParaRPr lang="en-US" sz="1200" dirty="0"/>
          </a:p>
        </p:txBody>
      </p:sp>
    </p:spTree>
  </p:cSld>
  <p:clrMapOvr>
    <a:masterClrMapping/>
  </p:clrMapOvr>
</p:sld>
</file>

<file path=ppt/theme/theme1.xml><?xml version="1.0" encoding="utf-8"?>
<a:theme xmlns:a="http://schemas.openxmlformats.org/drawingml/2006/main" name="SMS Spam Detection Using NLP Classification">
  <a:themeElements>
    <a:clrScheme name="SMS Spam Detection Using NLP Classification">
      <a:dk1>
        <a:srgbClr val="14213D"/>
      </a:dk1>
      <a:lt1>
        <a:srgbClr val="F4F1EA"/>
      </a:lt1>
      <a:dk2>
        <a:srgbClr val="4C5568"/>
      </a:dk2>
      <a:lt2>
        <a:srgbClr val="DEDCD9"/>
      </a:lt2>
      <a:accent1>
        <a:srgbClr val="C2412D"/>
      </a:accent1>
      <a:accent2>
        <a:srgbClr val="F2A65A"/>
      </a:accent2>
      <a:accent3>
        <a:srgbClr val="2A78D6"/>
      </a:accent3>
      <a:accent4>
        <a:srgbClr val="9FB0C8"/>
      </a:accent4>
      <a:accent5>
        <a:srgbClr val="FFE7CC"/>
      </a:accent5>
      <a:accent6>
        <a:srgbClr val="4A5568"/>
      </a:accent6>
      <a:hlink>
        <a:srgbClr val="0563C1"/>
      </a:hlink>
      <a:folHlink>
        <a:srgbClr val="954F72"/>
      </a:folHlink>
    </a:clrScheme>
    <a:fontScheme name="SMS Spam Detection Using NLP Classific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SMS Spam Detection Using NLP Classification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2026-10-26T16:56:41Z</dcterms:created>
  <dcterms:modified xsi:type="dcterms:W3CDTF">2026-10-26T16:56:41Z</dcterms:modified>
</cp:coreProperties>
</file>